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c674bf4-bd27-841b-e6d8-113127354849}">
          <p14:sldIdLst>
            <p14:sldId id="256"/>
            <p14:sldId id="257"/>
            <p14:sldId id="258"/>
          </p14:sldIdLst>
        </p14:section>
        <p14:section name="Review" id="{2bdb3706-ecf5-3b23-88f6-f2e5f164164e}">
          <p14:sldIdLst>
            <p14:sldId id="259"/>
            <p14:sldId id="260"/>
          </p14:sldIdLst>
        </p14:section>
        <p14:section name="A Deeper Look" id="{3b62ad8e-50f1-537a-eb97-2ff523941bd7}">
          <p14:sldIdLst>
            <p14:sldId id="261"/>
          </p14:sldIdLst>
        </p14:section>
        <p14:section name="The Seven Churches" id="{adad98d9-e1e3-d651-08ef-7c31697127b0}">
          <p14:sldIdLst>
            <p14:sldId id="262"/>
            <p14:sldId id="263"/>
            <p14:sldId id="264"/>
            <p14:sldId id="265"/>
            <p14:sldId id="266"/>
            <p14:sldId id="267"/>
            <p14:sldId id="268"/>
          </p14:sldIdLst>
        </p14:section>
        <p14:section name="Close" id="{4cb73e1c-6d9a-3e06-d999-d32d1fe86db0}">
          <p14:sldIdLst>
            <p14:sldId id="269"/>
          </p14:sldIdLst>
        </p14:section>
        <p14:section name="Appendix" id="{41dfdba6-5a37-85a3-b7e3-4a92834a2f63}">
          <p14:sldIdLst>
            <p14:sldId id="270"/>
            <p14:sldId id="271"/>
            <p14:sldId id="272"/>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J-01: John on Patmos writing. Use the same John character in every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this session goes deeper than the overview. Rev 1:19 gives the three vantage points. Accuracy note: some scholars read 1:19 as a two part outline; we present it as how we are structuring the study. IMAGE J-02 as described.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 things that happened before John wrote, which he had read in the Scriptures or been taught. Revelation draws heavily on the Old Testament, including Daniel (compare Rev 13 with Dan 7). Present: what John was shown at that moment, the churches as they were. Prophecy: what was still to come, read alongside Daniel. The church age reading is an interpretation; say so. IMAGES J-03, J-04, J-05: avoid depicting Jesus's face; show light, lampstands, or John's reaction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of the earlier session. Expand or replace this with content from the previous presentation and video once provided, so the review matches what the class actually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storytelling distinction the series can own: some names survived in altered forms, some were replaced, and some cities essentially disappeared while new communities grew nearby. Sardis straddles patterns 1 and 3: the name survived as Sart, but the city itself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Past means before John wrote. For most churches that is the Old Testament. Ephesus and Laodicea also have earlier New Testament background (Acts 18–20; Ephesians; Colossians 2:1 and 4:13–16). Prophecy: Daniel never names the seven churches; teach the link as how it has been understood.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videos/C01_Ephesus_Past.mp4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C-01: John writing to Ephesus;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videos/C02_Smyrna_Past.mp4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C-02: John writing to Smyrna;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videos/C03_Pergamum_Past.mp4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C-03: John writing to Pergamum;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videos/C04_Thyatira_Past.mp4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C-04: John writing to Thyatira;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videos/C05_Sardis_Past.mp4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C-05: John writing to Sardis;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videos/C06_Philadelphia_Past.mp4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C-06: John writing to Philadelphia;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 together is a teaching synthesis connecting the three P's, not a statement of the text; present it as how these connect. Video buttons open videos/C07_Laodicea_Past.mp4 and _Letter.mp4 from a videos folder saved beside this deck. Flow: read the letter, then Past, Present, Prophecy, then the question. Prophecy dates follow common Adventist teaching and vary by expositor; cite whose dates you use. Daniel never names the churches; present the link as an interpretation. Use Ellen White only where she wrote about this church directly. IMAGE C-07: John writing to Laodicea; the city in the background should look first century (Roman era), not modern.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Acts 18–20; Rev 2:1–7. UNESCO World Heritage Centre, "Ephesus" (inscribed 2015) on harbor silting and the shift to Ayasuluk. VERIFY before recording: the 1914 renaming date and the Gothic raid date. Ellen White commented on Ephesus directly (Acts of the Apostles, ch. on "The Revelation"), so the opening EGW summary applies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2:8–11; Martyrdom of Polycarp (2nd century); İzmir Provincial Directorate of Culture and Tourism (already cited in the SMYRA file). VERIFY: earthquake year (sources give 177 or 178) and Polycarp's date (c. 155–167). Keep the existing script's caution: the "ten days" is a bounded testing in the text, not ten documented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2:12–17; UNESCO World Heritage Centre, "Pergamon and its Multi-Layered Cultural Landscape" (inscribed 2014); Cassius Dio 51.20 on the temple to Rome and Augustus. Do not identify a single building as "Satan's throne"; the existing script already flags this. Merge the two Pergamum files into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2:18–29; Acts 16:14; Turkish Ministry of Culture and Tourism museum directorate (muze.gov.tr, already cited). VERIFY the name of the excavation area in central Akhisar before putting it on screen. Keep the existing caution: Lydia is connected to the city, not proven to be in this congregation.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3:1–6; Herodotus 1.84 (Cyrus); Polybius 7.15–18 (Antiochus III); Tacitus, Annals 2.47 (AD 17 earthquake and Tiberius' aid); Archaeological Exploration of Sardis (sardisexpedition.org, already cited). The surprise captures make a strong backdrop for "I will come upon you as a thief" (3:3), but present that as background, not as what the verse means. Ellen White commented on Sardis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3:7–13; Strabo, Geography 12.8.18 and 13.4.10 (aftershocks); Tacitus, Annals 2.47. VERIFY the 1390 fall date and the Neocaesarea/Flavia sequence. Not Philadelphia, Pennsylvania; the existing script already says so. Ellen White commented on Philadelphia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Rev 3:14–22; Col 2:1, 4:13–16; Tacitus, Annals 14.27 (AD 60 earthquake, rebuilt without aid); Pamukkale Univ. Laodicea excavation reports. VERIFY the abandonment period. Caution: the popular gloss "Laodicea = people judged" is folk etymology; the city was named after a queen. Ellen White commented on Laodicea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churches named in Rev 1:11 (NKJV): Ephesus, Smyrna, Pergamos, Thyatira, Sardis, Philadelphia, Laodicea. NKJV spells it "Pergamos"; decide whether on-screen text follows NKJV (Pergamos) or the common historical form (Pergamum) and use it consistently. Philadelphia's closing bridge line also needs its episode number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49040"/>
            <a:ext cx="10698480" cy="1280160"/>
          </a:xfrm>
          <a:prstGeom prst="rect">
            <a:avLst/>
          </a:prstGeom>
          <a:noFill/>
          <a:ln/>
        </p:spPr>
        <p:txBody>
          <a:bodyPr wrap="square" rtlCol="0"/>
          <a:lstStyle>
            <a:lvl1pPr indent="0" marL="0">
              <a:buNone/>
              <a:defRPr lang="en-US" sz="2000" dirty="0">
                <a:solidFill>
                  <a:schemeClr val="bg2"/>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IM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23774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640080" y="4023360"/>
            <a:ext cx="6035040" cy="1463040"/>
          </a:xfrm>
          <a:prstGeom prst="rect">
            <a:avLst/>
          </a:prstGeom>
          <a:noFill/>
          <a:ln/>
        </p:spPr>
        <p:txBody>
          <a:bodyPr wrap="square" rtlCol="0"/>
          <a:lstStyle>
            <a:lvl1pPr algn="l" indent="0" marL="0">
              <a:buNone/>
              <a:defRPr lang="en-US" sz="2000" dirty="0">
                <a:solidFill>
                  <a:schemeClr val="bg2"/>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videos/C01_Ephesus_Past.mp4" TargetMode="External"/><Relationship Id="rId2" Type="http://schemas.openxmlformats.org/officeDocument/2006/relationships/hyperlink" Target="videos/C01_Ephesus_Letter.mp4" TargetMode="Externa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videos/C02_Smyrna_Past.mp4" TargetMode="External"/><Relationship Id="rId2" Type="http://schemas.openxmlformats.org/officeDocument/2006/relationships/hyperlink" Target="videos/C02_Smyrna_Letter.mp4" TargetMode="Externa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videos/C03_Pergamum_Past.mp4" TargetMode="External"/><Relationship Id="rId2" Type="http://schemas.openxmlformats.org/officeDocument/2006/relationships/hyperlink" Target="videos/C03_Pergamum_Letter.mp4" TargetMode="Externa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videos/C04_Thyatira_Past.mp4" TargetMode="External"/><Relationship Id="rId2" Type="http://schemas.openxmlformats.org/officeDocument/2006/relationships/hyperlink" Target="videos/C04_Thyatira_Letter.mp4" TargetMode="Externa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videos/C05_Sardis_Past.mp4" TargetMode="External"/><Relationship Id="rId2" Type="http://schemas.openxmlformats.org/officeDocument/2006/relationships/hyperlink" Target="videos/C05_Sardis_Letter.mp4" TargetMode="Externa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videos/C06_Philadelphia_Past.mp4" TargetMode="External"/><Relationship Id="rId2" Type="http://schemas.openxmlformats.org/officeDocument/2006/relationships/hyperlink" Target="videos/C06_Philadelphia_Letter.mp4" TargetMode="Externa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videos/C07_Laodicea_Past.mp4" TargetMode="External"/><Relationship Id="rId2" Type="http://schemas.openxmlformats.org/officeDocument/2006/relationships/hyperlink" Target="videos/C07_Laodicea_Letter.mp4" TargetMode="External"/><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23774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Digging Deeper: The Seven Churches of Revelation</a:t>
            </a:r>
            <a:endParaRPr lang="en-US" sz="4000" dirty="0"/>
          </a:p>
        </p:txBody>
      </p:sp>
      <p:sp>
        <p:nvSpPr>
          <p:cNvPr id="3" name="Text 0"/>
          <p:cNvSpPr/>
          <p:nvPr>
            <p:ph idx="101" type="body" hasCustomPrompt="1"/>
          </p:nvPr>
        </p:nvSpPr>
        <p:spPr>
          <a:xfrm>
            <a:off x="640080" y="4023360"/>
            <a:ext cx="6035040" cy="1463040"/>
          </a:xfrm>
          <a:prstGeom prst="rect">
            <a:avLst/>
          </a:prstGeom>
          <a:noFill/>
          <a:ln/>
        </p:spPr>
        <p:txBody>
          <a:bodyPr wrap="square"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Past · Present · Prophecy</a:t>
            </a:r>
            <a:endParaRPr lang="en-US" sz="2000" dirty="0"/>
          </a:p>
          <a:p>
            <a:pPr algn="l" indent="0" marL="0">
              <a:buNone/>
            </a:pPr>
            <a:r>
              <a:rPr lang="en-US" sz="2000" dirty="0">
                <a:solidFill>
                  <a:schemeClr val="bg2"/>
                </a:solidFill>
                <a:latin typeface="Calibri" pitchFamily="34" charset="0"/>
                <a:ea typeface="Calibri" pitchFamily="34" charset="-122"/>
                <a:cs typeface="Calibri" pitchFamily="34" charset="-120"/>
              </a:rPr>
              <a:t>Revelation 1:19</a:t>
            </a:r>
            <a:endParaRPr lang="en-US" sz="2000" dirty="0"/>
          </a:p>
        </p:txBody>
      </p:sp>
      <p:sp>
        <p:nvSpPr>
          <p:cNvPr id="4" name="Shape 2"/>
          <p:cNvSpPr/>
          <p:nvPr/>
        </p:nvSpPr>
        <p:spPr>
          <a:xfrm>
            <a:off x="7223760" y="731520"/>
            <a:ext cx="4480560" cy="5394960"/>
          </a:xfrm>
          <a:prstGeom prst="rect">
            <a:avLst/>
          </a:prstGeom>
          <a:solidFill>
            <a:srgbClr val="2E4670"/>
          </a:solidFill>
          <a:ln w="19050">
            <a:solidFill>
              <a:srgbClr val="C9A227"/>
            </a:solidFill>
            <a:prstDash val="dash"/>
          </a:ln>
        </p:spPr>
      </p:sp>
      <p:sp>
        <p:nvSpPr>
          <p:cNvPr id="5" name="Text 3"/>
          <p:cNvSpPr txBox="1"/>
          <p:nvPr/>
        </p:nvSpPr>
        <p:spPr>
          <a:xfrm>
            <a:off x="7406640" y="914400"/>
            <a:ext cx="4114800" cy="5029200"/>
          </a:xfrm>
          <a:prstGeom prst="rect">
            <a:avLst/>
          </a:prstGeom>
          <a:noFill/>
          <a:ln/>
        </p:spPr>
        <p:txBody>
          <a:bodyPr wrap="square" lIns="0" tIns="0" rIns="0" bIns="0"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IMAGE J-01</a:t>
            </a:r>
            <a:endParaRPr lang="en-US" sz="1400" dirty="0"/>
          </a:p>
          <a:p>
            <a:pPr algn="ctr" indent="0" marL="0">
              <a:buNone/>
            </a:pPr>
            <a:r>
              <a:rPr lang="en-US" sz="1200" dirty="0">
                <a:solidFill>
                  <a:srgbClr val="EEF2F6"/>
                </a:solidFill>
                <a:latin typeface="Calibri" pitchFamily="34" charset="0"/>
                <a:ea typeface="Calibri" pitchFamily="34" charset="-122"/>
                <a:cs typeface="Calibri" pitchFamily="34" charset="-120"/>
              </a:rPr>
              <a:t>John on the island of Patmos, seated on rocks above the sea, writing on a scroll. Portrait, about 4:5.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We're digging deeper</a:t>
            </a:r>
            <a:endParaRPr lang="en-US" sz="3400" dirty="0"/>
          </a:p>
        </p:txBody>
      </p:sp>
      <p:sp>
        <p:nvSpPr>
          <p:cNvPr id="3" name="Text 1"/>
          <p:cNvSpPr txBox="1"/>
          <p:nvPr/>
        </p:nvSpPr>
        <p:spPr>
          <a:xfrm>
            <a:off x="457200" y="1280160"/>
            <a:ext cx="6766560" cy="16459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In our first session we met the seven churches and the cities they lived in. Now we go deeper. We will read each letter the way John received it: through what he already knew, what he was seeing, and what was still to come.</a:t>
            </a:r>
            <a:endParaRPr lang="en-US" sz="1800" dirty="0"/>
          </a:p>
        </p:txBody>
      </p:sp>
      <p:sp>
        <p:nvSpPr>
          <p:cNvPr id="4" name="Shape 2"/>
          <p:cNvSpPr/>
          <p:nvPr/>
        </p:nvSpPr>
        <p:spPr>
          <a:xfrm>
            <a:off x="457200" y="3154680"/>
            <a:ext cx="6766560" cy="1828800"/>
          </a:xfrm>
          <a:prstGeom prst="roundRect">
            <a:avLst>
              <a:gd name="adj" fmla="val 4000"/>
            </a:avLst>
          </a:prstGeom>
          <a:solidFill>
            <a:schemeClr val="tx2"/>
          </a:solidFill>
          <a:ln/>
        </p:spPr>
      </p:sp>
      <p:sp>
        <p:nvSpPr>
          <p:cNvPr id="5" name="Text 3"/>
          <p:cNvSpPr txBox="1"/>
          <p:nvPr/>
        </p:nvSpPr>
        <p:spPr>
          <a:xfrm>
            <a:off x="731520" y="3246120"/>
            <a:ext cx="6217920" cy="1645920"/>
          </a:xfrm>
          <a:prstGeom prst="rect">
            <a:avLst/>
          </a:prstGeom>
          <a:noFill/>
          <a:ln/>
        </p:spPr>
        <p:txBody>
          <a:bodyPr wrap="square" lIns="0" tIns="0" rIns="0" bIns="0" rtlCol="0" anchor="ctr"/>
          <a:lstStyle/>
          <a:p>
            <a:pPr indent="0" marL="0">
              <a:buNone/>
            </a:pPr>
            <a:r>
              <a:rPr lang="en-US" sz="2000" i="1" dirty="0">
                <a:solidFill>
                  <a:schemeClr val="bg1"/>
                </a:solidFill>
                <a:latin typeface="Calibri" pitchFamily="34" charset="0"/>
                <a:ea typeface="Calibri" pitchFamily="34" charset="-122"/>
                <a:cs typeface="Calibri" pitchFamily="34" charset="-120"/>
              </a:rPr>
              <a:t>"Write the things which you have seen, and the things which are, and the things which will take place after this."</a:t>
            </a:r>
            <a:endParaRPr lang="en-US" sz="2000" dirty="0"/>
          </a:p>
          <a:p>
            <a:pPr indent="0" marL="0">
              <a:buNone/>
            </a:pPr>
            <a:r>
              <a:rPr lang="en-US" sz="2000" b="1" dirty="0">
                <a:solidFill>
                  <a:schemeClr val="accent3"/>
                </a:solidFill>
                <a:latin typeface="Calibri" pitchFamily="34" charset="0"/>
                <a:ea typeface="Calibri" pitchFamily="34" charset="-122"/>
                <a:cs typeface="Calibri" pitchFamily="34" charset="-120"/>
              </a:rPr>
              <a:t>Revelation 1:19 (NKJV)</a:t>
            </a:r>
            <a:endParaRPr lang="en-US" sz="2000" dirty="0"/>
          </a:p>
        </p:txBody>
      </p:sp>
      <p:sp>
        <p:nvSpPr>
          <p:cNvPr id="6" name="Text 4"/>
          <p:cNvSpPr txBox="1"/>
          <p:nvPr/>
        </p:nvSpPr>
        <p:spPr>
          <a:xfrm>
            <a:off x="457200" y="5303520"/>
            <a:ext cx="6766560" cy="73152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Three vantage points. Seven churches. One question for us today.</a:t>
            </a:r>
            <a:endParaRPr lang="en-US" sz="2000" dirty="0"/>
          </a:p>
        </p:txBody>
      </p:sp>
      <p:sp>
        <p:nvSpPr>
          <p:cNvPr id="7" name="Shape 5"/>
          <p:cNvSpPr/>
          <p:nvPr/>
        </p:nvSpPr>
        <p:spPr>
          <a:xfrm>
            <a:off x="7589520" y="1280160"/>
            <a:ext cx="4142232" cy="4937760"/>
          </a:xfrm>
          <a:prstGeom prst="rect">
            <a:avLst/>
          </a:prstGeom>
          <a:solidFill>
            <a:srgbClr val="E3E8EF"/>
          </a:solidFill>
          <a:ln w="19050">
            <a:solidFill>
              <a:srgbClr val="6B7A8F"/>
            </a:solidFill>
            <a:prstDash val="dash"/>
          </a:ln>
        </p:spPr>
      </p:sp>
      <p:sp>
        <p:nvSpPr>
          <p:cNvPr id="8" name="Text 6"/>
          <p:cNvSpPr txBox="1"/>
          <p:nvPr/>
        </p:nvSpPr>
        <p:spPr>
          <a:xfrm>
            <a:off x="7772400" y="1463040"/>
            <a:ext cx="3776472" cy="457200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J-02</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older and strong, holding a scroll and looking up as he hears the voice behind him (Rev 1:10). Portrait.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three P's</a:t>
            </a:r>
            <a:endParaRPr lang="en-US" sz="3400" dirty="0"/>
          </a:p>
        </p:txBody>
      </p:sp>
      <p:sp>
        <p:nvSpPr>
          <p:cNvPr id="3" name="Shape 1"/>
          <p:cNvSpPr/>
          <p:nvPr/>
        </p:nvSpPr>
        <p:spPr>
          <a:xfrm>
            <a:off x="457200" y="1280160"/>
            <a:ext cx="3611880" cy="2240280"/>
          </a:xfrm>
          <a:prstGeom prst="rect">
            <a:avLst/>
          </a:prstGeom>
          <a:solidFill>
            <a:srgbClr val="E3E8EF"/>
          </a:solidFill>
          <a:ln w="19050">
            <a:solidFill>
              <a:srgbClr val="6B7A8F"/>
            </a:solidFill>
            <a:prstDash val="dash"/>
          </a:ln>
        </p:spPr>
      </p:sp>
      <p:sp>
        <p:nvSpPr>
          <p:cNvPr id="4" name="Text 2"/>
          <p:cNvSpPr txBox="1"/>
          <p:nvPr/>
        </p:nvSpPr>
        <p:spPr>
          <a:xfrm>
            <a:off x="640080" y="1463040"/>
            <a:ext cx="3246120" cy="187452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J-03</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reading Old Testament scrolls by lamplight.</a:t>
            </a:r>
            <a:endParaRPr lang="en-US" sz="1400" dirty="0"/>
          </a:p>
        </p:txBody>
      </p:sp>
      <p:sp>
        <p:nvSpPr>
          <p:cNvPr id="5" name="Shape 3"/>
          <p:cNvSpPr/>
          <p:nvPr/>
        </p:nvSpPr>
        <p:spPr>
          <a:xfrm>
            <a:off x="457200" y="3657600"/>
            <a:ext cx="3611880" cy="2606040"/>
          </a:xfrm>
          <a:prstGeom prst="roundRect">
            <a:avLst>
              <a:gd name="adj" fmla="val 3509"/>
            </a:avLst>
          </a:prstGeom>
          <a:solidFill>
            <a:schemeClr val="bg2"/>
          </a:solidFill>
          <a:ln/>
          <a:effectLst>
            <a:outerShdw sx="100000" sy="100000" kx="0" ky="0" algn="bl" rotWithShape="0" blurRad="76200" dist="25400" dir="5400000">
              <a:srgbClr val="1B2333">
                <a:alpha val="15000"/>
              </a:srgbClr>
            </a:outerShdw>
          </a:effectLst>
        </p:spPr>
      </p:sp>
      <p:sp>
        <p:nvSpPr>
          <p:cNvPr id="6" name="Shape 4"/>
          <p:cNvSpPr/>
          <p:nvPr/>
        </p:nvSpPr>
        <p:spPr>
          <a:xfrm>
            <a:off x="731520" y="3840480"/>
            <a:ext cx="1554480" cy="411480"/>
          </a:xfrm>
          <a:prstGeom prst="roundRect">
            <a:avLst>
              <a:gd name="adj" fmla="val 48889"/>
            </a:avLst>
          </a:prstGeom>
          <a:solidFill>
            <a:schemeClr val="accent4"/>
          </a:solidFill>
          <a:ln/>
        </p:spPr>
      </p:sp>
      <p:sp>
        <p:nvSpPr>
          <p:cNvPr id="7" name="Text 5"/>
          <p:cNvSpPr txBox="1"/>
          <p:nvPr/>
        </p:nvSpPr>
        <p:spPr>
          <a:xfrm>
            <a:off x="731520" y="3840480"/>
            <a:ext cx="1554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Past</a:t>
            </a:r>
            <a:endParaRPr lang="en-US" sz="1500" dirty="0"/>
          </a:p>
        </p:txBody>
      </p:sp>
      <p:sp>
        <p:nvSpPr>
          <p:cNvPr id="8" name="Text 6"/>
          <p:cNvSpPr txBox="1"/>
          <p:nvPr/>
        </p:nvSpPr>
        <p:spPr>
          <a:xfrm>
            <a:off x="731520" y="4389120"/>
            <a:ext cx="31089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had read or been told</a:t>
            </a:r>
            <a:endParaRPr lang="en-US" sz="1800" dirty="0"/>
          </a:p>
        </p:txBody>
      </p:sp>
      <p:sp>
        <p:nvSpPr>
          <p:cNvPr id="9" name="Text 7"/>
          <p:cNvSpPr txBox="1"/>
          <p:nvPr/>
        </p:nvSpPr>
        <p:spPr>
          <a:xfrm>
            <a:off x="731520" y="5120640"/>
            <a:ext cx="310896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Scripture before Revelation: the Old Testament, plus Acts and Paul's letters.</a:t>
            </a:r>
            <a:endParaRPr lang="en-US" sz="1400" dirty="0"/>
          </a:p>
        </p:txBody>
      </p:sp>
      <p:sp>
        <p:nvSpPr>
          <p:cNvPr id="10" name="Shape 8"/>
          <p:cNvSpPr/>
          <p:nvPr/>
        </p:nvSpPr>
        <p:spPr>
          <a:xfrm>
            <a:off x="4279392" y="1280160"/>
            <a:ext cx="3611880" cy="2240280"/>
          </a:xfrm>
          <a:prstGeom prst="rect">
            <a:avLst/>
          </a:prstGeom>
          <a:solidFill>
            <a:srgbClr val="E3E8EF"/>
          </a:solidFill>
          <a:ln w="19050">
            <a:solidFill>
              <a:srgbClr val="6B7A8F"/>
            </a:solidFill>
            <a:prstDash val="dash"/>
          </a:ln>
        </p:spPr>
      </p:sp>
      <p:sp>
        <p:nvSpPr>
          <p:cNvPr id="11" name="Text 9"/>
          <p:cNvSpPr txBox="1"/>
          <p:nvPr/>
        </p:nvSpPr>
        <p:spPr>
          <a:xfrm>
            <a:off x="4462272" y="1463040"/>
            <a:ext cx="3246120" cy="187452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J-04</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receiving the vision, bright light, kneeling or shielding his eyes (Rev 1:17).</a:t>
            </a:r>
            <a:endParaRPr lang="en-US" sz="1400" dirty="0"/>
          </a:p>
        </p:txBody>
      </p:sp>
      <p:sp>
        <p:nvSpPr>
          <p:cNvPr id="12" name="Shape 10"/>
          <p:cNvSpPr/>
          <p:nvPr/>
        </p:nvSpPr>
        <p:spPr>
          <a:xfrm>
            <a:off x="4279392" y="3657600"/>
            <a:ext cx="3611880" cy="2606040"/>
          </a:xfrm>
          <a:prstGeom prst="roundRect">
            <a:avLst>
              <a:gd name="adj" fmla="val 3509"/>
            </a:avLst>
          </a:prstGeom>
          <a:solidFill>
            <a:schemeClr val="bg2"/>
          </a:solidFill>
          <a:ln/>
          <a:effectLst>
            <a:outerShdw sx="100000" sy="100000" kx="0" ky="0" algn="bl" rotWithShape="0" blurRad="76200" dist="25400" dir="5400000">
              <a:srgbClr val="1B2333">
                <a:alpha val="15000"/>
              </a:srgbClr>
            </a:outerShdw>
          </a:effectLst>
        </p:spPr>
      </p:sp>
      <p:sp>
        <p:nvSpPr>
          <p:cNvPr id="13" name="Shape 11"/>
          <p:cNvSpPr/>
          <p:nvPr/>
        </p:nvSpPr>
        <p:spPr>
          <a:xfrm>
            <a:off x="4553712" y="3840480"/>
            <a:ext cx="1554480" cy="411480"/>
          </a:xfrm>
          <a:prstGeom prst="roundRect">
            <a:avLst>
              <a:gd name="adj" fmla="val 48889"/>
            </a:avLst>
          </a:prstGeom>
          <a:solidFill>
            <a:schemeClr val="accent2"/>
          </a:solidFill>
          <a:ln/>
        </p:spPr>
      </p:sp>
      <p:sp>
        <p:nvSpPr>
          <p:cNvPr id="14" name="Text 12"/>
          <p:cNvSpPr txBox="1"/>
          <p:nvPr/>
        </p:nvSpPr>
        <p:spPr>
          <a:xfrm>
            <a:off x="4553712" y="3840480"/>
            <a:ext cx="1554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Present</a:t>
            </a:r>
            <a:endParaRPr lang="en-US" sz="1500" dirty="0"/>
          </a:p>
        </p:txBody>
      </p:sp>
      <p:sp>
        <p:nvSpPr>
          <p:cNvPr id="15" name="Text 13"/>
          <p:cNvSpPr txBox="1"/>
          <p:nvPr/>
        </p:nvSpPr>
        <p:spPr>
          <a:xfrm>
            <a:off x="4553712" y="4389120"/>
            <a:ext cx="31089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was seeing then</a:t>
            </a:r>
            <a:endParaRPr lang="en-US" sz="1800" dirty="0"/>
          </a:p>
        </p:txBody>
      </p:sp>
      <p:sp>
        <p:nvSpPr>
          <p:cNvPr id="16" name="Text 14"/>
          <p:cNvSpPr txBox="1"/>
          <p:nvPr/>
        </p:nvSpPr>
        <p:spPr>
          <a:xfrm>
            <a:off x="4553712" y="5120640"/>
            <a:ext cx="310896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churches as Jesus described them to John, about AD 95 (Rev 1:10–11).</a:t>
            </a:r>
            <a:endParaRPr lang="en-US" sz="1400" dirty="0"/>
          </a:p>
        </p:txBody>
      </p:sp>
      <p:sp>
        <p:nvSpPr>
          <p:cNvPr id="17" name="Shape 15"/>
          <p:cNvSpPr/>
          <p:nvPr/>
        </p:nvSpPr>
        <p:spPr>
          <a:xfrm>
            <a:off x="8101584" y="1280160"/>
            <a:ext cx="3611880" cy="2240280"/>
          </a:xfrm>
          <a:prstGeom prst="rect">
            <a:avLst/>
          </a:prstGeom>
          <a:solidFill>
            <a:srgbClr val="E3E8EF"/>
          </a:solidFill>
          <a:ln w="19050">
            <a:solidFill>
              <a:srgbClr val="6B7A8F"/>
            </a:solidFill>
            <a:prstDash val="dash"/>
          </a:ln>
        </p:spPr>
      </p:sp>
      <p:sp>
        <p:nvSpPr>
          <p:cNvPr id="18" name="Text 16"/>
          <p:cNvSpPr txBox="1"/>
          <p:nvPr/>
        </p:nvSpPr>
        <p:spPr>
          <a:xfrm>
            <a:off x="8284464" y="1463040"/>
            <a:ext cx="3246120" cy="187452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J-05</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gazing toward the horizon over the sea at dawn.</a:t>
            </a:r>
            <a:endParaRPr lang="en-US" sz="1400" dirty="0"/>
          </a:p>
        </p:txBody>
      </p:sp>
      <p:sp>
        <p:nvSpPr>
          <p:cNvPr id="19" name="Shape 17"/>
          <p:cNvSpPr/>
          <p:nvPr/>
        </p:nvSpPr>
        <p:spPr>
          <a:xfrm>
            <a:off x="8101584" y="3657600"/>
            <a:ext cx="3611880" cy="2606040"/>
          </a:xfrm>
          <a:prstGeom prst="roundRect">
            <a:avLst>
              <a:gd name="adj" fmla="val 3509"/>
            </a:avLst>
          </a:prstGeom>
          <a:solidFill>
            <a:schemeClr val="bg2"/>
          </a:solidFill>
          <a:ln/>
          <a:effectLst>
            <a:outerShdw sx="100000" sy="100000" kx="0" ky="0" algn="bl" rotWithShape="0" blurRad="76200" dist="25400" dir="5400000">
              <a:srgbClr val="1B2333">
                <a:alpha val="15000"/>
              </a:srgbClr>
            </a:outerShdw>
          </a:effectLst>
        </p:spPr>
      </p:sp>
      <p:sp>
        <p:nvSpPr>
          <p:cNvPr id="20" name="Shape 18"/>
          <p:cNvSpPr/>
          <p:nvPr/>
        </p:nvSpPr>
        <p:spPr>
          <a:xfrm>
            <a:off x="8375904" y="3840480"/>
            <a:ext cx="1554480" cy="411480"/>
          </a:xfrm>
          <a:prstGeom prst="roundRect">
            <a:avLst>
              <a:gd name="adj" fmla="val 48889"/>
            </a:avLst>
          </a:prstGeom>
          <a:solidFill>
            <a:schemeClr val="accent1"/>
          </a:solidFill>
          <a:ln/>
        </p:spPr>
      </p:sp>
      <p:sp>
        <p:nvSpPr>
          <p:cNvPr id="21" name="Text 19"/>
          <p:cNvSpPr txBox="1"/>
          <p:nvPr/>
        </p:nvSpPr>
        <p:spPr>
          <a:xfrm>
            <a:off x="8375904" y="3840480"/>
            <a:ext cx="1554480" cy="41148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Prophecy</a:t>
            </a:r>
            <a:endParaRPr lang="en-US" sz="1500" dirty="0"/>
          </a:p>
        </p:txBody>
      </p:sp>
      <p:sp>
        <p:nvSpPr>
          <p:cNvPr id="22" name="Text 20"/>
          <p:cNvSpPr txBox="1"/>
          <p:nvPr/>
        </p:nvSpPr>
        <p:spPr>
          <a:xfrm>
            <a:off x="8375904" y="4389120"/>
            <a:ext cx="3108960" cy="6858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and Daniel said is to come</a:t>
            </a:r>
            <a:endParaRPr lang="en-US" sz="1800" dirty="0"/>
          </a:p>
        </p:txBody>
      </p:sp>
      <p:sp>
        <p:nvSpPr>
          <p:cNvPr id="23" name="Text 21"/>
          <p:cNvSpPr txBox="1"/>
          <p:nvPr/>
        </p:nvSpPr>
        <p:spPr>
          <a:xfrm>
            <a:off x="8375904" y="5120640"/>
            <a:ext cx="3108960"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What these letters point to ahead, read alongside Daniel's prophecies.</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Review: where we've been</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57200"/>
                <a:gridCol w="1645920"/>
                <a:gridCol w="1645920"/>
                <a:gridCol w="3108960"/>
                <a:gridCol w="441655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Church</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Reference</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Then → Now</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 one line</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Ephesus</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2:1–7</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Ephesus → Selçuk</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Hard working, but left its first love</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Smyrna</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2:8–11</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Smyrna → İzmir</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Poor and persecuted, yet rich</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Pergamum</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2:12–17</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Pergamum → Bergama</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Faithful under pressure, compromised inside</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Thyatira</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2:18–29</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Thyatira → Akhisar</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Growing in service, tolerating false teaching</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Sardis</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3:1–6</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Sardis → Sart</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A reputation for life, but dead</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Philadelphia</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3:7–13</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Philadelphia → Alaşehir</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Little strength, an open door</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548640">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Laodicea</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Rev 3:14–22</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Laodicea → Denizli</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Lukewarm and unaware</a:t>
                      </a:r>
                      <a:endParaRPr lang="en-US" sz="15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Review: three patterns of continuity</a:t>
            </a:r>
            <a:endParaRPr lang="en-US" sz="3400" dirty="0"/>
          </a:p>
        </p:txBody>
      </p:sp>
      <p:sp>
        <p:nvSpPr>
          <p:cNvPr id="3" name="Shape 1"/>
          <p:cNvSpPr/>
          <p:nvPr/>
        </p:nvSpPr>
        <p:spPr>
          <a:xfrm>
            <a:off x="457200" y="1371600"/>
            <a:ext cx="3611880" cy="4754880"/>
          </a:xfrm>
          <a:prstGeom prst="roundRect">
            <a:avLst>
              <a:gd name="adj" fmla="val 2532"/>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731520" y="1645920"/>
            <a:ext cx="548640" cy="548640"/>
          </a:xfrm>
          <a:prstGeom prst="ellipse">
            <a:avLst/>
          </a:prstGeom>
          <a:solidFill>
            <a:schemeClr val="accent2"/>
          </a:solidFill>
          <a:ln/>
        </p:spPr>
      </p:sp>
      <p:sp>
        <p:nvSpPr>
          <p:cNvPr id="5"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31520" y="2377440"/>
            <a:ext cx="310896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Name survived, altered</a:t>
            </a:r>
            <a:endParaRPr lang="en-US" sz="2000" dirty="0"/>
          </a:p>
        </p:txBody>
      </p:sp>
      <p:sp>
        <p:nvSpPr>
          <p:cNvPr id="7" name="Text 5"/>
          <p:cNvSpPr txBox="1"/>
          <p:nvPr/>
        </p:nvSpPr>
        <p:spPr>
          <a:xfrm>
            <a:off x="731520" y="3200400"/>
            <a:ext cx="310896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place kept living and the name changed with the language.</a:t>
            </a:r>
            <a:endParaRPr lang="en-US" sz="1400" dirty="0"/>
          </a:p>
        </p:txBody>
      </p:sp>
      <p:sp>
        <p:nvSpPr>
          <p:cNvPr id="8" name="Text 6"/>
          <p:cNvSpPr txBox="1"/>
          <p:nvPr/>
        </p:nvSpPr>
        <p:spPr>
          <a:xfrm>
            <a:off x="731520" y="4297680"/>
            <a:ext cx="3108960" cy="16459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Smyrna → İzmir</a:t>
            </a:r>
            <a:endParaRPr lang="en-US" sz="1600" dirty="0"/>
          </a:p>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Pergamum → Bergama</a:t>
            </a:r>
            <a:endParaRPr lang="en-US" sz="1600" dirty="0"/>
          </a:p>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Sardis → Sart (name survived, city faded)</a:t>
            </a:r>
            <a:endParaRPr lang="en-US" sz="1600" dirty="0"/>
          </a:p>
        </p:txBody>
      </p:sp>
      <p:sp>
        <p:nvSpPr>
          <p:cNvPr id="9" name="Shape 7"/>
          <p:cNvSpPr/>
          <p:nvPr/>
        </p:nvSpPr>
        <p:spPr>
          <a:xfrm>
            <a:off x="4279392" y="1371600"/>
            <a:ext cx="3611880" cy="4754880"/>
          </a:xfrm>
          <a:prstGeom prst="roundRect">
            <a:avLst>
              <a:gd name="adj" fmla="val 2532"/>
            </a:avLst>
          </a:prstGeom>
          <a:solidFill>
            <a:schemeClr val="bg2"/>
          </a:solidFill>
          <a:ln/>
          <a:effectLst>
            <a:outerShdw sx="100000" sy="100000" kx="0" ky="0" algn="bl" rotWithShape="0" blurRad="76200" dist="25400" dir="5400000">
              <a:srgbClr val="1B2333">
                <a:alpha val="15000"/>
              </a:srgbClr>
            </a:outerShdw>
          </a:effectLst>
        </p:spPr>
      </p:sp>
      <p:sp>
        <p:nvSpPr>
          <p:cNvPr id="10" name="Shape 8"/>
          <p:cNvSpPr/>
          <p:nvPr/>
        </p:nvSpPr>
        <p:spPr>
          <a:xfrm>
            <a:off x="4553712" y="1645920"/>
            <a:ext cx="548640" cy="548640"/>
          </a:xfrm>
          <a:prstGeom prst="ellipse">
            <a:avLst/>
          </a:prstGeom>
          <a:solidFill>
            <a:schemeClr val="accent3"/>
          </a:solidFill>
          <a:ln/>
        </p:spPr>
      </p:sp>
      <p:sp>
        <p:nvSpPr>
          <p:cNvPr id="11" name="Text 9"/>
          <p:cNvSpPr txBox="1"/>
          <p:nvPr/>
        </p:nvSpPr>
        <p:spPr>
          <a:xfrm>
            <a:off x="4553712"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553712" y="2377440"/>
            <a:ext cx="310896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Name replaced, same spot</a:t>
            </a:r>
            <a:endParaRPr lang="en-US" sz="2000" dirty="0"/>
          </a:p>
        </p:txBody>
      </p:sp>
      <p:sp>
        <p:nvSpPr>
          <p:cNvPr id="13" name="Text 11"/>
          <p:cNvSpPr txBox="1"/>
          <p:nvPr/>
        </p:nvSpPr>
        <p:spPr>
          <a:xfrm>
            <a:off x="4553712" y="3200400"/>
            <a:ext cx="310896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city stayed, but conquerors and new languages gave it a new name.</a:t>
            </a:r>
            <a:endParaRPr lang="en-US" sz="1400" dirty="0"/>
          </a:p>
        </p:txBody>
      </p:sp>
      <p:sp>
        <p:nvSpPr>
          <p:cNvPr id="14" name="Text 12"/>
          <p:cNvSpPr txBox="1"/>
          <p:nvPr/>
        </p:nvSpPr>
        <p:spPr>
          <a:xfrm>
            <a:off x="4553712" y="4297680"/>
            <a:ext cx="3108960" cy="16459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Thyatira → Akhisar</a:t>
            </a:r>
            <a:endParaRPr lang="en-US" sz="1600" dirty="0"/>
          </a:p>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Philadelphia → Alaşehir</a:t>
            </a:r>
            <a:endParaRPr lang="en-US" sz="1600" dirty="0"/>
          </a:p>
        </p:txBody>
      </p:sp>
      <p:sp>
        <p:nvSpPr>
          <p:cNvPr id="15" name="Shape 13"/>
          <p:cNvSpPr/>
          <p:nvPr/>
        </p:nvSpPr>
        <p:spPr>
          <a:xfrm>
            <a:off x="8101584" y="1371600"/>
            <a:ext cx="3611880" cy="4754880"/>
          </a:xfrm>
          <a:prstGeom prst="roundRect">
            <a:avLst>
              <a:gd name="adj" fmla="val 2532"/>
            </a:avLst>
          </a:prstGeom>
          <a:solidFill>
            <a:schemeClr val="bg2"/>
          </a:solidFill>
          <a:ln/>
          <a:effectLst>
            <a:outerShdw sx="100000" sy="100000" kx="0" ky="0" algn="bl" rotWithShape="0" blurRad="76200" dist="25400" dir="5400000">
              <a:srgbClr val="1B2333">
                <a:alpha val="15000"/>
              </a:srgbClr>
            </a:outerShdw>
          </a:effectLst>
        </p:spPr>
      </p:sp>
      <p:sp>
        <p:nvSpPr>
          <p:cNvPr id="16" name="Shape 14"/>
          <p:cNvSpPr/>
          <p:nvPr/>
        </p:nvSpPr>
        <p:spPr>
          <a:xfrm>
            <a:off x="8375904" y="1645920"/>
            <a:ext cx="548640" cy="548640"/>
          </a:xfrm>
          <a:prstGeom prst="ellipse">
            <a:avLst/>
          </a:prstGeom>
          <a:solidFill>
            <a:schemeClr val="accent1"/>
          </a:solidFill>
          <a:ln/>
        </p:spPr>
      </p:sp>
      <p:sp>
        <p:nvSpPr>
          <p:cNvPr id="17" name="Text 15"/>
          <p:cNvSpPr txBox="1"/>
          <p:nvPr/>
        </p:nvSpPr>
        <p:spPr>
          <a:xfrm>
            <a:off x="8375904"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8375904" y="2377440"/>
            <a:ext cx="3108960" cy="77724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City abandoned, new town nearby</a:t>
            </a:r>
            <a:endParaRPr lang="en-US" sz="2000" dirty="0"/>
          </a:p>
        </p:txBody>
      </p:sp>
      <p:sp>
        <p:nvSpPr>
          <p:cNvPr id="19" name="Text 17"/>
          <p:cNvSpPr txBox="1"/>
          <p:nvPr/>
        </p:nvSpPr>
        <p:spPr>
          <a:xfrm>
            <a:off x="8375904" y="3200400"/>
            <a:ext cx="3108960"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ancient site emptied; life moved to a neighboring settlement.</a:t>
            </a:r>
            <a:endParaRPr lang="en-US" sz="1400" dirty="0"/>
          </a:p>
        </p:txBody>
      </p:sp>
      <p:sp>
        <p:nvSpPr>
          <p:cNvPr id="20" name="Text 18"/>
          <p:cNvSpPr txBox="1"/>
          <p:nvPr/>
        </p:nvSpPr>
        <p:spPr>
          <a:xfrm>
            <a:off x="8375904" y="4297680"/>
            <a:ext cx="3108960" cy="16459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Ephesus → Selçuk</a:t>
            </a:r>
            <a:endParaRPr lang="en-US" sz="1600" dirty="0"/>
          </a:p>
          <a:p>
            <a:pPr indent="0" marL="0">
              <a:spcAft>
                <a:spcPts val="600"/>
              </a:spcAft>
              <a:buNone/>
            </a:pPr>
            <a:r>
              <a:rPr lang="en-US" sz="1600" b="1" dirty="0">
                <a:solidFill>
                  <a:schemeClr val="tx2"/>
                </a:solidFill>
                <a:latin typeface="Calibri" pitchFamily="34" charset="0"/>
                <a:ea typeface="Calibri" pitchFamily="34" charset="-122"/>
                <a:cs typeface="Calibri" pitchFamily="34" charset="-120"/>
              </a:rPr>
              <a:t>Laodicea → Denizli</a:t>
            </a:r>
            <a:endParaRPr lang="en-US" sz="16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Let's look deeper: three lenses</a:t>
            </a:r>
            <a:endParaRPr lang="en-US" sz="3400" dirty="0"/>
          </a:p>
        </p:txBody>
      </p:sp>
      <p:sp>
        <p:nvSpPr>
          <p:cNvPr id="3" name="Shape 1"/>
          <p:cNvSpPr/>
          <p:nvPr/>
        </p:nvSpPr>
        <p:spPr>
          <a:xfrm>
            <a:off x="457200" y="1280160"/>
            <a:ext cx="7589520" cy="1188720"/>
          </a:xfrm>
          <a:prstGeom prst="roundRect">
            <a:avLst>
              <a:gd name="adj" fmla="val 7692"/>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645920"/>
            <a:ext cx="1463040" cy="457200"/>
          </a:xfrm>
          <a:prstGeom prst="roundRect">
            <a:avLst>
              <a:gd name="adj" fmla="val 50000"/>
            </a:avLst>
          </a:prstGeom>
          <a:solidFill>
            <a:schemeClr val="accent4"/>
          </a:solidFill>
          <a:ln/>
        </p:spPr>
      </p:sp>
      <p:sp>
        <p:nvSpPr>
          <p:cNvPr id="5" name="Text 3"/>
          <p:cNvSpPr txBox="1"/>
          <p:nvPr/>
        </p:nvSpPr>
        <p:spPr>
          <a:xfrm>
            <a:off x="685800" y="16459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Past</a:t>
            </a:r>
            <a:endParaRPr lang="en-US" sz="1500" dirty="0"/>
          </a:p>
        </p:txBody>
      </p:sp>
      <p:sp>
        <p:nvSpPr>
          <p:cNvPr id="6" name="Text 4"/>
          <p:cNvSpPr txBox="1"/>
          <p:nvPr/>
        </p:nvSpPr>
        <p:spPr>
          <a:xfrm>
            <a:off x="2377440" y="1417320"/>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had read or been told</a:t>
            </a:r>
            <a:endParaRPr lang="en-US" sz="1800" dirty="0"/>
          </a:p>
        </p:txBody>
      </p:sp>
      <p:sp>
        <p:nvSpPr>
          <p:cNvPr id="7" name="Text 5"/>
          <p:cNvSpPr txBox="1"/>
          <p:nvPr/>
        </p:nvSpPr>
        <p:spPr>
          <a:xfrm>
            <a:off x="2377440" y="1828800"/>
            <a:ext cx="54864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Earlier Scripture each letter draws on: the Old Testament, Acts, and Paul's letters.</a:t>
            </a:r>
            <a:endParaRPr lang="en-US" sz="1400" dirty="0"/>
          </a:p>
        </p:txBody>
      </p:sp>
      <p:sp>
        <p:nvSpPr>
          <p:cNvPr id="8" name="Shape 6"/>
          <p:cNvSpPr/>
          <p:nvPr/>
        </p:nvSpPr>
        <p:spPr>
          <a:xfrm>
            <a:off x="457200" y="2651760"/>
            <a:ext cx="7589520" cy="1188720"/>
          </a:xfrm>
          <a:prstGeom prst="roundRect">
            <a:avLst>
              <a:gd name="adj" fmla="val 7692"/>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685800" y="3017520"/>
            <a:ext cx="1463040" cy="457200"/>
          </a:xfrm>
          <a:prstGeom prst="roundRect">
            <a:avLst>
              <a:gd name="adj" fmla="val 50000"/>
            </a:avLst>
          </a:prstGeom>
          <a:solidFill>
            <a:schemeClr val="accent2"/>
          </a:solidFill>
          <a:ln/>
        </p:spPr>
      </p:sp>
      <p:sp>
        <p:nvSpPr>
          <p:cNvPr id="10" name="Text 8"/>
          <p:cNvSpPr txBox="1"/>
          <p:nvPr/>
        </p:nvSpPr>
        <p:spPr>
          <a:xfrm>
            <a:off x="685800" y="30175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Present</a:t>
            </a:r>
            <a:endParaRPr lang="en-US" sz="1500" dirty="0"/>
          </a:p>
        </p:txBody>
      </p:sp>
      <p:sp>
        <p:nvSpPr>
          <p:cNvPr id="11" name="Text 9"/>
          <p:cNvSpPr txBox="1"/>
          <p:nvPr/>
        </p:nvSpPr>
        <p:spPr>
          <a:xfrm>
            <a:off x="2377440" y="2788920"/>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was seeing, about AD 95</a:t>
            </a:r>
            <a:endParaRPr lang="en-US" sz="1800" dirty="0"/>
          </a:p>
        </p:txBody>
      </p:sp>
      <p:sp>
        <p:nvSpPr>
          <p:cNvPr id="12" name="Text 10"/>
          <p:cNvSpPr txBox="1"/>
          <p:nvPr/>
        </p:nvSpPr>
        <p:spPr>
          <a:xfrm>
            <a:off x="2377440" y="3200400"/>
            <a:ext cx="54864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Jesus speaks to real churches in real cities, as they were that day.</a:t>
            </a:r>
            <a:endParaRPr lang="en-US" sz="1400" dirty="0"/>
          </a:p>
        </p:txBody>
      </p:sp>
      <p:sp>
        <p:nvSpPr>
          <p:cNvPr id="13" name="Shape 11"/>
          <p:cNvSpPr/>
          <p:nvPr/>
        </p:nvSpPr>
        <p:spPr>
          <a:xfrm>
            <a:off x="457200" y="4023360"/>
            <a:ext cx="7589520" cy="1188720"/>
          </a:xfrm>
          <a:prstGeom prst="roundRect">
            <a:avLst>
              <a:gd name="adj" fmla="val 7692"/>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4389120"/>
            <a:ext cx="1463040" cy="457200"/>
          </a:xfrm>
          <a:prstGeom prst="roundRect">
            <a:avLst>
              <a:gd name="adj" fmla="val 50000"/>
            </a:avLst>
          </a:prstGeom>
          <a:solidFill>
            <a:schemeClr val="accent1"/>
          </a:solidFill>
          <a:ln/>
        </p:spPr>
      </p:sp>
      <p:sp>
        <p:nvSpPr>
          <p:cNvPr id="15" name="Text 13"/>
          <p:cNvSpPr txBox="1"/>
          <p:nvPr/>
        </p:nvSpPr>
        <p:spPr>
          <a:xfrm>
            <a:off x="685800" y="4389120"/>
            <a:ext cx="146304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Prophecy</a:t>
            </a:r>
            <a:endParaRPr lang="en-US" sz="1500" dirty="0"/>
          </a:p>
        </p:txBody>
      </p:sp>
      <p:sp>
        <p:nvSpPr>
          <p:cNvPr id="16" name="Text 14"/>
          <p:cNvSpPr txBox="1"/>
          <p:nvPr/>
        </p:nvSpPr>
        <p:spPr>
          <a:xfrm>
            <a:off x="2377440" y="4160520"/>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What John and Daniel said is to come</a:t>
            </a:r>
            <a:endParaRPr lang="en-US" sz="1800" dirty="0"/>
          </a:p>
        </p:txBody>
      </p:sp>
      <p:sp>
        <p:nvSpPr>
          <p:cNvPr id="17" name="Text 15"/>
          <p:cNvSpPr txBox="1"/>
          <p:nvPr/>
        </p:nvSpPr>
        <p:spPr>
          <a:xfrm>
            <a:off x="2377440" y="4572000"/>
            <a:ext cx="5486400" cy="594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How each letter has been understood alongside Daniel. This is interpretation, and we will say so.</a:t>
            </a:r>
            <a:endParaRPr lang="en-US" sz="1400" dirty="0"/>
          </a:p>
        </p:txBody>
      </p:sp>
      <p:sp>
        <p:nvSpPr>
          <p:cNvPr id="18" name="Shape 16"/>
          <p:cNvSpPr/>
          <p:nvPr/>
        </p:nvSpPr>
        <p:spPr>
          <a:xfrm>
            <a:off x="8321040" y="1280160"/>
            <a:ext cx="3410712" cy="3931920"/>
          </a:xfrm>
          <a:prstGeom prst="rect">
            <a:avLst/>
          </a:prstGeom>
          <a:solidFill>
            <a:srgbClr val="E3E8EF"/>
          </a:solidFill>
          <a:ln w="19050">
            <a:solidFill>
              <a:srgbClr val="6B7A8F"/>
            </a:solidFill>
            <a:prstDash val="dash"/>
          </a:ln>
        </p:spPr>
      </p:sp>
      <p:sp>
        <p:nvSpPr>
          <p:cNvPr id="19" name="Text 17"/>
          <p:cNvSpPr txBox="1"/>
          <p:nvPr/>
        </p:nvSpPr>
        <p:spPr>
          <a:xfrm>
            <a:off x="8503920" y="1463040"/>
            <a:ext cx="3044952" cy="356616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J-06</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turning to see seven golden lampstands (Rev 1:12). Show light and lampstands; avoid depicting Jesus's face.</a:t>
            </a:r>
            <a:endParaRPr lang="en-US" sz="1400" dirty="0"/>
          </a:p>
        </p:txBody>
      </p:sp>
      <p:sp>
        <p:nvSpPr>
          <p:cNvPr id="20" name="Shape 18"/>
          <p:cNvSpPr/>
          <p:nvPr/>
        </p:nvSpPr>
        <p:spPr>
          <a:xfrm>
            <a:off x="457200" y="5440680"/>
            <a:ext cx="11274552" cy="822960"/>
          </a:xfrm>
          <a:prstGeom prst="roundRect">
            <a:avLst>
              <a:gd name="adj" fmla="val 8889"/>
            </a:avLst>
          </a:prstGeom>
          <a:solidFill>
            <a:schemeClr val="tx2"/>
          </a:solidFill>
          <a:ln/>
        </p:spPr>
      </p:sp>
      <p:sp>
        <p:nvSpPr>
          <p:cNvPr id="21" name="Text 19"/>
          <p:cNvSpPr txBox="1"/>
          <p:nvPr/>
        </p:nvSpPr>
        <p:spPr>
          <a:xfrm>
            <a:off x="731520" y="5486400"/>
            <a:ext cx="10698480" cy="731520"/>
          </a:xfrm>
          <a:prstGeom prst="rect">
            <a:avLst/>
          </a:prstGeom>
          <a:noFill/>
          <a:ln/>
        </p:spPr>
        <p:txBody>
          <a:bodyPr wrap="square" lIns="0" tIns="0" rIns="0" bIns="0" rtlCol="0" anchor="ctr"/>
          <a:lstStyle/>
          <a:p>
            <a:pPr indent="0" marL="0">
              <a:buNone/>
            </a:pPr>
            <a:r>
              <a:rPr lang="en-US" sz="2000" b="1" dirty="0">
                <a:solidFill>
                  <a:schemeClr val="accent3"/>
                </a:solidFill>
                <a:latin typeface="Calibri" pitchFamily="34" charset="0"/>
                <a:ea typeface="Calibri" pitchFamily="34" charset="-122"/>
                <a:cs typeface="Calibri" pitchFamily="34" charset="-120"/>
              </a:rPr>
              <a:t>Then one question:  </a:t>
            </a:r>
            <a:pPr indent="0" marL="0">
              <a:buNone/>
            </a:pPr>
            <a:r>
              <a:rPr lang="en-US" sz="2000" b="1" dirty="0">
                <a:solidFill>
                  <a:schemeClr val="bg1"/>
                </a:solidFill>
                <a:latin typeface="Calibri" pitchFamily="34" charset="0"/>
                <a:ea typeface="Calibri" pitchFamily="34" charset="-122"/>
                <a:cs typeface="Calibri" pitchFamily="34" charset="-120"/>
              </a:rPr>
              <a:t>How does this apply to us today?</a:t>
            </a:r>
            <a:endParaRPr lang="en-US" sz="20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1 · Ephesus  </a:t>
            </a:r>
            <a:pPr algn="l" indent="0" marL="0">
              <a:buNone/>
            </a:pPr>
            <a:r>
              <a:rPr lang="en-US" sz="2000" b="1" dirty="0">
                <a:solidFill>
                  <a:schemeClr val="accent4"/>
                </a:solidFill>
                <a:latin typeface="Cambria" pitchFamily="34" charset="0"/>
                <a:ea typeface="Cambria" pitchFamily="34" charset="-122"/>
                <a:cs typeface="Cambria" pitchFamily="34" charset="-120"/>
              </a:rPr>
              <a:t>Revelation 2:1–7</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Gen 2–3; Ex 25; Acts 20</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tree of life (Gen 2:9; 3:22–24), the sanctuary lampstand (Ex 25:31–37), and Paul's warning to Ephesus (Acts 20:29–31).</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2:2–5</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Tireless, careful about false teachers, enduring. Yet they had left their first love (2:2–4).</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9:24–27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apostolic church, to about AD 100 (Ellen White, AA 578). Daniel 9 marks the Messiah's work that launched it: an indirect link.</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In Eden, at the sanctuary lampstand, and in the early church, God's people stay near Him through love, not labor alone.</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Is my obedience still driven by love, or only by habit?</a:t>
            </a:r>
            <a:endParaRPr lang="en-US" sz="1400" dirty="0"/>
          </a:p>
        </p:txBody>
      </p:sp>
      <p:sp>
        <p:nvSpPr>
          <p:cNvPr id="22" name="Text 20">
            <a:hlinkClick r:id="rId1" tooltip="Plays videos/C01_Ephesus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1_Ephesus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1_Ephesus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1_Ephesus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C-01</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Ephesus, with ancient Ephesus behind him (Revelation 2:1–7).</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Ephesus → Selçuk and the ruins of Efes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2 · Smyrna  </a:t>
            </a:r>
            <a:pPr algn="l" indent="0" marL="0">
              <a:buNone/>
            </a:pPr>
            <a:r>
              <a:rPr lang="en-US" sz="2000" b="1" dirty="0">
                <a:solidFill>
                  <a:schemeClr val="accent4"/>
                </a:solidFill>
                <a:latin typeface="Cambria" pitchFamily="34" charset="0"/>
                <a:ea typeface="Cambria" pitchFamily="34" charset="-122"/>
                <a:cs typeface="Cambria" pitchFamily="34" charset="-120"/>
              </a:rPr>
              <a:t>Revelation 2:8–11</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1; 3</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Daniel and his friends were tested ten days (Dan 1:12) and stayed faithful in the fire (Dan 3).</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2:9–11</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Poor, slandered, facing prison. No rebuke: be faithful until death (2:9–10).</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2:40; 7:7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Persecution under pagan Rome, Daniel's fourth kingdom, about AD 100 to 313.</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Daniel's friends, Smyrna, and the persecuted church learned the same truth: the test has a limit, and God keeps the faithful.</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Can I stay faithful when faithfulness costs me something?</a:t>
            </a:r>
            <a:endParaRPr lang="en-US" sz="1400" dirty="0"/>
          </a:p>
        </p:txBody>
      </p:sp>
      <p:sp>
        <p:nvSpPr>
          <p:cNvPr id="22" name="Text 20">
            <a:hlinkClick r:id="rId1" tooltip="Plays videos/C02_Smyrna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2_Smyrna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2_Smyrna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2_Smyrna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C-02</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Smyrna, with ancient Smyrna behind him (Revelation 2:8–11).</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Smyrna → İzmir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3 · Pergamum  </a:t>
            </a:r>
            <a:pPr algn="l" indent="0" marL="0">
              <a:buNone/>
            </a:pPr>
            <a:r>
              <a:rPr lang="en-US" sz="2000" b="1" dirty="0">
                <a:solidFill>
                  <a:schemeClr val="accent4"/>
                </a:solidFill>
                <a:latin typeface="Cambria" pitchFamily="34" charset="0"/>
                <a:ea typeface="Cambria" pitchFamily="34" charset="-122"/>
                <a:cs typeface="Cambria" pitchFamily="34" charset="-120"/>
              </a:rPr>
              <a:t>Revelation 2:12–17</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Num 25; Ex 16</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Balaam taught Balak to lure Israel into idolatry (Num 25:1–3; 31:16); manna kept in the ark (Ex 16:33).</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2:13–16</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Held fast after Antipas was killed, yet tolerated Balaam's teaching inside (2:13–15).</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7:8, 24–25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church joined to the state after Constantine, about AD 313 to 538, as the little horn rises.</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Balaam, Pergamum, and the church after Constantine show the same danger: compromise inside does more harm than pressure outside.</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What have I called "necessary to fit in" that Christ calls me to change?</a:t>
            </a:r>
            <a:endParaRPr lang="en-US" sz="1400" dirty="0"/>
          </a:p>
        </p:txBody>
      </p:sp>
      <p:sp>
        <p:nvSpPr>
          <p:cNvPr id="22" name="Text 20">
            <a:hlinkClick r:id="rId1" tooltip="Plays videos/C03_Pergamum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3_Pergamum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3_Pergamum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3_Pergamum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C-03</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Pergamum, with ancient Pergamum behind him (Revelation 2:12–17).</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Pergamum → Bergama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4 · Thyatira  </a:t>
            </a:r>
            <a:pPr algn="l" indent="0" marL="0">
              <a:buNone/>
            </a:pPr>
            <a:r>
              <a:rPr lang="en-US" sz="2000" b="1" dirty="0">
                <a:solidFill>
                  <a:schemeClr val="accent4"/>
                </a:solidFill>
                <a:latin typeface="Cambria" pitchFamily="34" charset="0"/>
                <a:ea typeface="Cambria" pitchFamily="34" charset="-122"/>
                <a:cs typeface="Cambria" pitchFamily="34" charset="-120"/>
              </a:rPr>
              <a:t>Revelation 2:18–29</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1 Kings 16; Ps 2</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Jezebel led Israel into Baal worship (1 Kings 16:30–33; 21:25); the nations ruled with a rod (Ps 2:8–9).</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2:19–25</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Growing love, faith, and service, yet tolerating "Jezebel" and her teaching (2:19–20).</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7:25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long medieval period, 538 to 1798, often linked to the "time and times and half a time."</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Jezebel in Israel, "Jezebel" in Thyatira, and the long medieval era: a busy church can still make room for false teaching.</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Do I measure faith only by what I do, or also by what I tolerate?</a:t>
            </a:r>
            <a:endParaRPr lang="en-US" sz="1400" dirty="0"/>
          </a:p>
        </p:txBody>
      </p:sp>
      <p:sp>
        <p:nvSpPr>
          <p:cNvPr id="22" name="Text 20">
            <a:hlinkClick r:id="rId1" tooltip="Plays videos/C04_Thyatira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4_Thyatira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4_Thyatira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4_Thyatira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C-04</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Thyatira, with ancient Thyatira behind him (Revelation 2:18–29).</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Thyatira → Akhisar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5 · Sardis  </a:t>
            </a:r>
            <a:pPr algn="l" indent="0" marL="0">
              <a:buNone/>
            </a:pPr>
            <a:r>
              <a:rPr lang="en-US" sz="2000" b="1" dirty="0">
                <a:solidFill>
                  <a:schemeClr val="accent4"/>
                </a:solidFill>
                <a:latin typeface="Cambria" pitchFamily="34" charset="0"/>
                <a:ea typeface="Cambria" pitchFamily="34" charset="-122"/>
                <a:cs typeface="Cambria" pitchFamily="34" charset="-120"/>
              </a:rPr>
              <a:t>Revelation 3:1–6</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Ex 32; Zech 3</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Names written in God's book (Ex 32:32–33; Dan 12:1); Joshua's filthy garments replaced with clean ones (Zech 3:3–5).</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3:1–5</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 reputation for life but dead; a few had not defiled their garments (3:1–4).</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12:4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church after 1798, entering "the time of the end."</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From Moses' plea to Joshua's clean garments, God keeps a faithful few, even when a church only looks alive.</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Is my reputation ahead of my reality?</a:t>
            </a:r>
            <a:endParaRPr lang="en-US" sz="1400" dirty="0"/>
          </a:p>
        </p:txBody>
      </p:sp>
      <p:sp>
        <p:nvSpPr>
          <p:cNvPr id="22" name="Text 20">
            <a:hlinkClick r:id="rId1" tooltip="Plays videos/C05_Sardis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5_Sardis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5_Sardis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5_Sardis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C-05</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Sardis, with ancient Sardis behind him (Revelation 3:1–6).</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Sardis (Sardes) → Sart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6 · Philadelphia  </a:t>
            </a:r>
            <a:pPr algn="l" indent="0" marL="0">
              <a:buNone/>
            </a:pPr>
            <a:r>
              <a:rPr lang="en-US" sz="2000" b="1" dirty="0">
                <a:solidFill>
                  <a:schemeClr val="accent4"/>
                </a:solidFill>
                <a:latin typeface="Cambria" pitchFamily="34" charset="0"/>
                <a:ea typeface="Cambria" pitchFamily="34" charset="-122"/>
                <a:cs typeface="Cambria" pitchFamily="34" charset="-120"/>
              </a:rPr>
              <a:t>Revelation 3:7–13</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Isa 22; 1 Kings 7</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Eliakim given the key of David (Isa 22:20–23); the pillars of Solomon's temple (1 Kings 7:21).</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3:7–13</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Little strength, kept His word, given an open door no one can shut. No rebuke (3:8).</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8:14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Advent awakening leading to 1844, the end of the 2,300 days.</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Eliakim's key, Philadelphia's open door, and the Advent awakening: God opens doors for people with little strength.</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Am I waiting to feel strong before I obey?</a:t>
            </a:r>
            <a:endParaRPr lang="en-US" sz="1400" dirty="0"/>
          </a:p>
        </p:txBody>
      </p:sp>
      <p:sp>
        <p:nvSpPr>
          <p:cNvPr id="22" name="Text 20">
            <a:hlinkClick r:id="rId1" tooltip="Plays videos/C06_Philadelphia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6_Philadelphia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6_Philadelphia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6_Philadelphia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C-06</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Philadelphia, with ancient Philadelphia behind him (Revelation 3:7–13).</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Philadelphia → Alaşehir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7 · Laodicea  </a:t>
            </a:r>
            <a:pPr algn="l" indent="0" marL="0">
              <a:buNone/>
            </a:pPr>
            <a:r>
              <a:rPr lang="en-US" sz="2000" b="1" dirty="0">
                <a:solidFill>
                  <a:schemeClr val="accent4"/>
                </a:solidFill>
                <a:latin typeface="Cambria" pitchFamily="34" charset="0"/>
                <a:ea typeface="Cambria" pitchFamily="34" charset="-122"/>
                <a:cs typeface="Cambria" pitchFamily="34" charset="-120"/>
              </a:rPr>
              <a:t>Revelation 3:14–22</a:t>
            </a:r>
            <a:endParaRPr lang="en-US" sz="3400" dirty="0"/>
          </a:p>
        </p:txBody>
      </p:sp>
      <p:sp>
        <p:nvSpPr>
          <p:cNvPr id="3" name="Shape 1"/>
          <p:cNvSpPr/>
          <p:nvPr/>
        </p:nvSpPr>
        <p:spPr>
          <a:xfrm>
            <a:off x="45720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685800" y="1481328"/>
            <a:ext cx="1280160" cy="365760"/>
          </a:xfrm>
          <a:prstGeom prst="roundRect">
            <a:avLst>
              <a:gd name="adj" fmla="val 50000"/>
            </a:avLst>
          </a:prstGeom>
          <a:solidFill>
            <a:schemeClr val="accent4"/>
          </a:solidFill>
          <a:ln/>
        </p:spPr>
      </p:sp>
      <p:sp>
        <p:nvSpPr>
          <p:cNvPr id="5" name="Text 3"/>
          <p:cNvSpPr txBox="1"/>
          <p:nvPr/>
        </p:nvSpPr>
        <p:spPr>
          <a:xfrm>
            <a:off x="68580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Past</a:t>
            </a:r>
            <a:endParaRPr lang="en-US" sz="1300" dirty="0"/>
          </a:p>
        </p:txBody>
      </p:sp>
      <p:sp>
        <p:nvSpPr>
          <p:cNvPr id="6" name="Text 4"/>
          <p:cNvSpPr txBox="1"/>
          <p:nvPr/>
        </p:nvSpPr>
        <p:spPr>
          <a:xfrm>
            <a:off x="210312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Zech 13; Mal 3</a:t>
            </a:r>
            <a:endParaRPr lang="en-US" sz="1100" dirty="0"/>
          </a:p>
        </p:txBody>
      </p:sp>
      <p:sp>
        <p:nvSpPr>
          <p:cNvPr id="7" name="Text 5"/>
          <p:cNvSpPr txBox="1"/>
          <p:nvPr/>
        </p:nvSpPr>
        <p:spPr>
          <a:xfrm>
            <a:off x="68580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Gold refined in fire (Zech 13:9; Mal 3:2–3); the beloved knocking at the door (Song 5:2).</a:t>
            </a:r>
            <a:endParaRPr lang="en-US" sz="1300" dirty="0"/>
          </a:p>
        </p:txBody>
      </p:sp>
      <p:sp>
        <p:nvSpPr>
          <p:cNvPr id="8" name="Shape 6"/>
          <p:cNvSpPr/>
          <p:nvPr/>
        </p:nvSpPr>
        <p:spPr>
          <a:xfrm>
            <a:off x="4389120" y="128016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617720" y="1481328"/>
            <a:ext cx="1280160" cy="365760"/>
          </a:xfrm>
          <a:prstGeom prst="roundRect">
            <a:avLst>
              <a:gd name="adj" fmla="val 50000"/>
            </a:avLst>
          </a:prstGeom>
          <a:solidFill>
            <a:schemeClr val="accent2"/>
          </a:solidFill>
          <a:ln/>
        </p:spPr>
      </p:sp>
      <p:sp>
        <p:nvSpPr>
          <p:cNvPr id="10" name="Text 8"/>
          <p:cNvSpPr txBox="1"/>
          <p:nvPr/>
        </p:nvSpPr>
        <p:spPr>
          <a:xfrm>
            <a:off x="4617720" y="148132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Present</a:t>
            </a:r>
            <a:endParaRPr lang="en-US" sz="1300" dirty="0"/>
          </a:p>
        </p:txBody>
      </p:sp>
      <p:sp>
        <p:nvSpPr>
          <p:cNvPr id="11" name="Text 9"/>
          <p:cNvSpPr txBox="1"/>
          <p:nvPr/>
        </p:nvSpPr>
        <p:spPr>
          <a:xfrm>
            <a:off x="6035040" y="148132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Rev 3:14–22</a:t>
            </a:r>
            <a:endParaRPr lang="en-US" sz="1100" dirty="0"/>
          </a:p>
        </p:txBody>
      </p:sp>
      <p:sp>
        <p:nvSpPr>
          <p:cNvPr id="12" name="Text 10"/>
          <p:cNvSpPr txBox="1"/>
          <p:nvPr/>
        </p:nvSpPr>
        <p:spPr>
          <a:xfrm>
            <a:off x="4617720" y="193852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Lukewarm, wealthy, and unaware of being "poor, blind, and naked" (3:15–17).</a:t>
            </a:r>
            <a:endParaRPr lang="en-US" sz="1300" dirty="0"/>
          </a:p>
        </p:txBody>
      </p:sp>
      <p:sp>
        <p:nvSpPr>
          <p:cNvPr id="13" name="Shape 11"/>
          <p:cNvSpPr/>
          <p:nvPr/>
        </p:nvSpPr>
        <p:spPr>
          <a:xfrm>
            <a:off x="457200" y="3429000"/>
            <a:ext cx="3749040" cy="1965960"/>
          </a:xfrm>
          <a:prstGeom prst="roundRect">
            <a:avLst>
              <a:gd name="adj" fmla="val 4651"/>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685800" y="3630168"/>
            <a:ext cx="1280160" cy="365760"/>
          </a:xfrm>
          <a:prstGeom prst="roundRect">
            <a:avLst>
              <a:gd name="adj" fmla="val 50000"/>
            </a:avLst>
          </a:prstGeom>
          <a:solidFill>
            <a:schemeClr val="accent1"/>
          </a:solidFill>
          <a:ln/>
        </p:spPr>
      </p:sp>
      <p:sp>
        <p:nvSpPr>
          <p:cNvPr id="15" name="Text 13"/>
          <p:cNvSpPr txBox="1"/>
          <p:nvPr/>
        </p:nvSpPr>
        <p:spPr>
          <a:xfrm>
            <a:off x="685800" y="3630168"/>
            <a:ext cx="1280160" cy="36576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Prophecy</a:t>
            </a:r>
            <a:endParaRPr lang="en-US" sz="1300" dirty="0"/>
          </a:p>
        </p:txBody>
      </p:sp>
      <p:sp>
        <p:nvSpPr>
          <p:cNvPr id="16" name="Text 14"/>
          <p:cNvSpPr txBox="1"/>
          <p:nvPr/>
        </p:nvSpPr>
        <p:spPr>
          <a:xfrm>
            <a:off x="2103120" y="3630168"/>
            <a:ext cx="1920240" cy="365760"/>
          </a:xfrm>
          <a:prstGeom prst="rect">
            <a:avLst/>
          </a:prstGeom>
          <a:noFill/>
          <a:ln/>
        </p:spPr>
        <p:txBody>
          <a:bodyPr wrap="square" lIns="0" tIns="0" rIns="0" bIns="0" rtlCol="0" anchor="ctr"/>
          <a:lstStyle/>
          <a:p>
            <a:pPr indent="0" marL="0">
              <a:buNone/>
            </a:pPr>
            <a:r>
              <a:rPr lang="en-US" sz="1100" i="1" dirty="0">
                <a:solidFill>
                  <a:schemeClr val="accent4"/>
                </a:solidFill>
                <a:latin typeface="Calibri" pitchFamily="34" charset="0"/>
                <a:ea typeface="Calibri" pitchFamily="34" charset="-122"/>
                <a:cs typeface="Calibri" pitchFamily="34" charset="-120"/>
              </a:rPr>
              <a:t>Dan 7:9–10 · interpretation</a:t>
            </a:r>
            <a:endParaRPr lang="en-US" sz="1100" dirty="0"/>
          </a:p>
        </p:txBody>
      </p:sp>
      <p:sp>
        <p:nvSpPr>
          <p:cNvPr id="17" name="Text 15"/>
          <p:cNvSpPr txBox="1"/>
          <p:nvPr/>
        </p:nvSpPr>
        <p:spPr>
          <a:xfrm>
            <a:off x="685800" y="4087368"/>
            <a:ext cx="3291840" cy="896112"/>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The church from 1844 to the end, living while the judgment sits.</a:t>
            </a:r>
            <a:endParaRPr lang="en-US" sz="1300" dirty="0"/>
          </a:p>
        </p:txBody>
      </p:sp>
      <p:sp>
        <p:nvSpPr>
          <p:cNvPr id="18" name="Shape 16"/>
          <p:cNvSpPr/>
          <p:nvPr/>
        </p:nvSpPr>
        <p:spPr>
          <a:xfrm>
            <a:off x="4389120" y="3429000"/>
            <a:ext cx="3749040" cy="1965960"/>
          </a:xfrm>
          <a:prstGeom prst="roundRect">
            <a:avLst>
              <a:gd name="adj" fmla="val 4651"/>
            </a:avLst>
          </a:prstGeom>
          <a:solidFill>
            <a:schemeClr val="tx2"/>
          </a:solidFill>
          <a:ln/>
          <a:effectLst>
            <a:outerShdw sx="100000" sy="100000" kx="0" ky="0" algn="bl" rotWithShape="0" blurRad="76200" dist="25400" dir="5400000">
              <a:srgbClr val="1B2333">
                <a:alpha val="15000"/>
              </a:srgbClr>
            </a:outerShdw>
          </a:effectLst>
        </p:spPr>
      </p:sp>
      <p:sp>
        <p:nvSpPr>
          <p:cNvPr id="19" name="Text 17"/>
          <p:cNvSpPr txBox="1"/>
          <p:nvPr/>
        </p:nvSpPr>
        <p:spPr>
          <a:xfrm>
            <a:off x="4617720" y="3547872"/>
            <a:ext cx="3291840" cy="274320"/>
          </a:xfrm>
          <a:prstGeom prst="rect">
            <a:avLst/>
          </a:prstGeom>
          <a:noFill/>
          <a:ln/>
        </p:spPr>
        <p:txBody>
          <a:bodyPr wrap="square" lIns="0" tIns="0" rIns="0" bIns="0" rtlCol="0" anchor="ctr"/>
          <a:lstStyle/>
          <a:p>
            <a:pPr indent="0" marL="0">
              <a:buNone/>
            </a:pPr>
            <a:r>
              <a:rPr lang="en-US" sz="1100" b="1" spc="200" kern="0" dirty="0">
                <a:solidFill>
                  <a:schemeClr val="accent3"/>
                </a:solidFill>
                <a:latin typeface="Calibri" pitchFamily="34" charset="0"/>
                <a:ea typeface="Calibri" pitchFamily="34" charset="-122"/>
                <a:cs typeface="Calibri" pitchFamily="34" charset="-120"/>
              </a:rPr>
              <a:t>TIE IT TOGETHER</a:t>
            </a:r>
            <a:endParaRPr lang="en-US" sz="1100" dirty="0"/>
          </a:p>
        </p:txBody>
      </p:sp>
      <p:sp>
        <p:nvSpPr>
          <p:cNvPr id="20" name="Text 18"/>
          <p:cNvSpPr txBox="1"/>
          <p:nvPr/>
        </p:nvSpPr>
        <p:spPr>
          <a:xfrm>
            <a:off x="4617720" y="3840480"/>
            <a:ext cx="3291840" cy="868680"/>
          </a:xfrm>
          <a:prstGeom prst="rect">
            <a:avLst/>
          </a:prstGeom>
          <a:noFill/>
          <a:ln/>
        </p:spPr>
        <p:txBody>
          <a:bodyPr wrap="square" lIns="0" tIns="0" rIns="0" bIns="0" rtlCol="0" anchor="t"/>
          <a:lstStyle/>
          <a:p>
            <a:pPr indent="0" marL="0">
              <a:buNone/>
            </a:pPr>
            <a:r>
              <a:rPr lang="en-US" sz="1200" dirty="0">
                <a:solidFill>
                  <a:schemeClr val="bg1"/>
                </a:solidFill>
                <a:latin typeface="Calibri" pitchFamily="34" charset="0"/>
                <a:ea typeface="Calibri" pitchFamily="34" charset="-122"/>
                <a:cs typeface="Calibri" pitchFamily="34" charset="-120"/>
              </a:rPr>
              <a:t>Refining fire, a lukewarm church, and the judgment hour: Christ still knocks, offering true riches in place of false comfort.</a:t>
            </a:r>
            <a:endParaRPr lang="en-US" sz="1200" dirty="0"/>
          </a:p>
        </p:txBody>
      </p:sp>
      <p:sp>
        <p:nvSpPr>
          <p:cNvPr id="21" name="Text 19"/>
          <p:cNvSpPr txBox="1"/>
          <p:nvPr/>
        </p:nvSpPr>
        <p:spPr>
          <a:xfrm>
            <a:off x="4617720" y="4709160"/>
            <a:ext cx="3291840" cy="594360"/>
          </a:xfrm>
          <a:prstGeom prst="rect">
            <a:avLst/>
          </a:prstGeom>
          <a:noFill/>
          <a:ln/>
        </p:spPr>
        <p:txBody>
          <a:bodyPr wrap="square" lIns="0" tIns="0" rIns="0" bIns="0" rtlCol="0" anchor="t"/>
          <a:lstStyle/>
          <a:p>
            <a:pPr indent="0" marL="0">
              <a:buNone/>
            </a:pPr>
            <a:r>
              <a:rPr lang="en-US" sz="1400" b="1" dirty="0">
                <a:solidFill>
                  <a:schemeClr val="accent3"/>
                </a:solidFill>
                <a:latin typeface="Cambria" pitchFamily="34" charset="0"/>
                <a:ea typeface="Cambria" pitchFamily="34" charset="-122"/>
                <a:cs typeface="Cambria" pitchFamily="34" charset="-120"/>
              </a:rPr>
              <a:t>Today: </a:t>
            </a:r>
            <a:pPr indent="0" marL="0">
              <a:buNone/>
            </a:pPr>
            <a:r>
              <a:rPr lang="en-US" sz="1400" b="1" dirty="0">
                <a:solidFill>
                  <a:schemeClr val="bg1"/>
                </a:solidFill>
                <a:latin typeface="Cambria" pitchFamily="34" charset="0"/>
                <a:ea typeface="Cambria" pitchFamily="34" charset="-122"/>
                <a:cs typeface="Cambria" pitchFamily="34" charset="-120"/>
              </a:rPr>
              <a:t>Where have I mistaken comfort for spiritual health?</a:t>
            </a:r>
            <a:endParaRPr lang="en-US" sz="1400" dirty="0"/>
          </a:p>
        </p:txBody>
      </p:sp>
      <p:sp>
        <p:nvSpPr>
          <p:cNvPr id="22" name="Text 20">
            <a:hlinkClick r:id="rId1" tooltip="Plays videos/C07_Laodicea_Past.mp4"/>
          </p:cNvPr>
          <p:cNvSpPr/>
          <p:nvPr/>
        </p:nvSpPr>
        <p:spPr>
          <a:xfrm>
            <a:off x="260604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1" invalidUrl="" action="" tgtFrame="" tooltip="Plays videos/C07_Laodicea_Past.mp4" history="1" highlightClick="0" endSnd="0">
                  <a:extLst>
                    <a:ext uri="{A12FA001-AC4F-418D-AE19-62706E023703}">
                      <ahyp:hlinkClr xmlns:ahyp="http://schemas.microsoft.com/office/drawing/2018/hyperlinkcolor" val="tx"/>
                    </a:ext>
                  </a:extLst>
                </a:hlinkClick>
              </a:rPr>
              <a:t>▶ Past reading</a:t>
            </a:r>
            <a:endParaRPr lang="en-US" sz="1100" dirty="0"/>
          </a:p>
        </p:txBody>
      </p:sp>
      <p:sp>
        <p:nvSpPr>
          <p:cNvPr id="23" name="Text 21">
            <a:hlinkClick r:id="rId2" tooltip="Plays videos/C07_Laodicea_Letter.mp4"/>
          </p:cNvPr>
          <p:cNvSpPr/>
          <p:nvPr/>
        </p:nvSpPr>
        <p:spPr>
          <a:xfrm>
            <a:off x="6537960" y="2852928"/>
            <a:ext cx="1417320" cy="292608"/>
          </a:xfrm>
          <a:prstGeom prst="roundRect">
            <a:avLst>
              <a:gd name="adj" fmla="val 50000"/>
            </a:avLst>
          </a:prstGeom>
          <a:solidFill>
            <a:schemeClr val="bg1"/>
          </a:solidFill>
          <a:ln w="12700">
            <a:solidFill>
              <a:schemeClr val="accent2"/>
            </a:solidFill>
          </a:ln>
        </p:spPr>
        <p:txBody>
          <a:bodyPr wrap="square" lIns="0" tIns="0" rIns="0" bIns="0" rtlCol="0" anchor="ctr"/>
          <a:lstStyle/>
          <a:p>
            <a:pPr algn="ctr" indent="0" marL="0">
              <a:buNone/>
            </a:pPr>
            <a:r>
              <a:rPr lang="en-US" sz="1100" b="1" u="sng" dirty="0">
                <a:solidFill>
                  <a:schemeClr val="accent2"/>
                </a:solidFill>
                <a:latin typeface="Calibri" pitchFamily="34" charset="0"/>
                <a:ea typeface="Calibri" pitchFamily="34" charset="-122"/>
                <a:cs typeface="Calibri" pitchFamily="34" charset="-120"/>
                <a:hlinkClick r:id="rId2" invalidUrl="" action="" tgtFrame="" tooltip="Plays videos/C07_Laodicea_Letter.mp4" history="1" highlightClick="0" endSnd="0">
                  <a:extLst>
                    <a:ext uri="{A12FA001-AC4F-418D-AE19-62706E023703}">
                      <ahyp:hlinkClr xmlns:ahyp="http://schemas.microsoft.com/office/drawing/2018/hyperlinkcolor" val="tx"/>
                    </a:ext>
                  </a:extLst>
                </a:hlinkClick>
              </a:rPr>
              <a:t>▶ Letter reading</a:t>
            </a:r>
            <a:endParaRPr lang="en-US" sz="1100" dirty="0"/>
          </a:p>
        </p:txBody>
      </p:sp>
      <p:sp>
        <p:nvSpPr>
          <p:cNvPr id="24" name="Shape 22"/>
          <p:cNvSpPr/>
          <p:nvPr/>
        </p:nvSpPr>
        <p:spPr>
          <a:xfrm>
            <a:off x="8321040" y="1280160"/>
            <a:ext cx="3410712" cy="4114800"/>
          </a:xfrm>
          <a:prstGeom prst="rect">
            <a:avLst/>
          </a:prstGeom>
          <a:solidFill>
            <a:srgbClr val="E3E8EF"/>
          </a:solidFill>
          <a:ln w="19050">
            <a:solidFill>
              <a:srgbClr val="6B7A8F"/>
            </a:solidFill>
            <a:prstDash val="dash"/>
          </a:ln>
        </p:spPr>
      </p:sp>
      <p:sp>
        <p:nvSpPr>
          <p:cNvPr id="25" name="Text 23"/>
          <p:cNvSpPr txBox="1"/>
          <p:nvPr/>
        </p:nvSpPr>
        <p:spPr>
          <a:xfrm>
            <a:off x="8503920" y="1463040"/>
            <a:ext cx="3044952" cy="3749040"/>
          </a:xfrm>
          <a:prstGeom prst="rect">
            <a:avLst/>
          </a:prstGeom>
          <a:noFill/>
          <a:ln/>
        </p:spPr>
        <p:txBody>
          <a:bodyPr wrap="square" lIns="0" tIns="0" rIns="0" bIns="0" rtlCol="0" anchor="ctr"/>
          <a:lstStyle/>
          <a:p>
            <a:pPr algn="ctr" indent="0" marL="0">
              <a:buNone/>
            </a:pPr>
            <a:r>
              <a:rPr lang="en-US" sz="1600" b="1" dirty="0">
                <a:solidFill>
                  <a:srgbClr val="B5543A"/>
                </a:solidFill>
                <a:latin typeface="Calibri" pitchFamily="34" charset="0"/>
                <a:ea typeface="Calibri" pitchFamily="34" charset="-122"/>
                <a:cs typeface="Calibri" pitchFamily="34" charset="-120"/>
              </a:rPr>
              <a:t>IMAGE C-07</a:t>
            </a:r>
            <a:endParaRPr lang="en-US" sz="1400" dirty="0"/>
          </a:p>
          <a:p>
            <a:pPr algn="ctr" indent="0" marL="0">
              <a:buNone/>
            </a:pPr>
            <a:r>
              <a:rPr lang="en-US" sz="1200" dirty="0">
                <a:solidFill>
                  <a:srgbClr val="1B2333"/>
                </a:solidFill>
                <a:latin typeface="Calibri" pitchFamily="34" charset="0"/>
                <a:ea typeface="Calibri" pitchFamily="34" charset="-122"/>
                <a:cs typeface="Calibri" pitchFamily="34" charset="-120"/>
              </a:rPr>
              <a:t>John writing the letter to Laodicea, with ancient Laodicea behind him (Revelation 3:14–22).</a:t>
            </a:r>
            <a:endParaRPr lang="en-US" sz="1400" dirty="0"/>
          </a:p>
        </p:txBody>
      </p:sp>
      <p:sp>
        <p:nvSpPr>
          <p:cNvPr id="26" name="Shape 24"/>
          <p:cNvSpPr/>
          <p:nvPr/>
        </p:nvSpPr>
        <p:spPr>
          <a:xfrm>
            <a:off x="457200" y="5577840"/>
            <a:ext cx="11274552" cy="685800"/>
          </a:xfrm>
          <a:prstGeom prst="roundRect">
            <a:avLst>
              <a:gd name="adj" fmla="val 10667"/>
            </a:avLst>
          </a:prstGeom>
          <a:solidFill>
            <a:schemeClr val="bg2"/>
          </a:solidFill>
          <a:ln/>
        </p:spPr>
      </p:sp>
      <p:sp>
        <p:nvSpPr>
          <p:cNvPr id="27" name="Text 25"/>
          <p:cNvSpPr txBox="1"/>
          <p:nvPr/>
        </p:nvSpPr>
        <p:spPr>
          <a:xfrm>
            <a:off x="685800" y="5623560"/>
            <a:ext cx="10881360" cy="594360"/>
          </a:xfrm>
          <a:prstGeom prst="rect">
            <a:avLst/>
          </a:prstGeom>
          <a:noFill/>
          <a:ln/>
        </p:spPr>
        <p:txBody>
          <a:bodyPr wrap="square" lIns="0" tIns="0" rIns="0" bIns="0" rtlCol="0" anchor="ctr"/>
          <a:lstStyle/>
          <a:p>
            <a:pPr indent="0" marL="0">
              <a:buNone/>
            </a:pPr>
            <a:r>
              <a:rPr lang="en-US" sz="1400" b="1" dirty="0">
                <a:solidFill>
                  <a:schemeClr val="accent2"/>
                </a:solidFill>
                <a:latin typeface="Calibri" pitchFamily="34" charset="0"/>
                <a:ea typeface="Calibri" pitchFamily="34" charset="-122"/>
                <a:cs typeface="Calibri" pitchFamily="34" charset="-120"/>
              </a:rPr>
              <a:t>Then → Now: </a:t>
            </a:r>
            <a:pPr indent="0" marL="0">
              <a:buNone/>
            </a:pPr>
            <a:r>
              <a:rPr lang="en-US" sz="1400" dirty="0">
                <a:solidFill>
                  <a:schemeClr val="tx1"/>
                </a:solidFill>
                <a:latin typeface="Calibri" pitchFamily="34" charset="0"/>
                <a:ea typeface="Calibri" pitchFamily="34" charset="-122"/>
                <a:cs typeface="Calibri" pitchFamily="34" charset="-120"/>
              </a:rPr>
              <a:t>Laodicea on the Lycus → Ruins near Denizli   ·   Readers: Scripture, Past passage, City report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463040"/>
            <a:ext cx="6035040" cy="2377440"/>
          </a:xfrm>
          <a:prstGeom prst="rect">
            <a:avLst/>
          </a:prstGeom>
          <a:noFill/>
          <a:ln/>
        </p:spPr>
        <p:txBody>
          <a:bodyPr wrap="square"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"He who has an ear, let him hear"</a:t>
            </a:r>
            <a:endParaRPr lang="en-US" sz="4000" dirty="0"/>
          </a:p>
        </p:txBody>
      </p:sp>
      <p:sp>
        <p:nvSpPr>
          <p:cNvPr id="3" name="Text 0"/>
          <p:cNvSpPr/>
          <p:nvPr>
            <p:ph idx="101" type="body" hasCustomPrompt="1"/>
          </p:nvPr>
        </p:nvSpPr>
        <p:spPr>
          <a:xfrm>
            <a:off x="640080" y="4023360"/>
            <a:ext cx="6035040" cy="1463040"/>
          </a:xfrm>
          <a:prstGeom prst="rect">
            <a:avLst/>
          </a:prstGeom>
          <a:noFill/>
          <a:ln/>
        </p:spPr>
        <p:txBody>
          <a:bodyPr wrap="square" rtlCol="0" anchor="t"/>
          <a:lstStyle/>
          <a:p>
            <a:pPr algn="l" indent="0" marL="0">
              <a:buNone/>
            </a:pPr>
            <a:r>
              <a:rPr lang="en-US" sz="2000" dirty="0">
                <a:solidFill>
                  <a:schemeClr val="bg2"/>
                </a:solidFill>
                <a:latin typeface="Calibri" pitchFamily="34" charset="0"/>
                <a:ea typeface="Calibri" pitchFamily="34" charset="-122"/>
                <a:cs typeface="Calibri" pitchFamily="34" charset="-120"/>
              </a:rPr>
              <a:t>what the Spirit says to the churches. (Revelation 3:22, NKJV)</a:t>
            </a:r>
            <a:endParaRPr lang="en-US" sz="2000" dirty="0"/>
          </a:p>
          <a:p>
            <a:pPr algn="l" indent="0" marL="0">
              <a:buNone/>
            </a:pPr>
            <a:r>
              <a:rPr lang="en-US" sz="2000" dirty="0">
                <a:solidFill>
                  <a:schemeClr val="bg2"/>
                </a:solidFill>
                <a:latin typeface="Calibri" pitchFamily="34" charset="0"/>
                <a:ea typeface="Calibri" pitchFamily="34" charset="-122"/>
                <a:cs typeface="Calibri" pitchFamily="34" charset="-120"/>
              </a:rPr>
              <a:t>Will we hear Him today?</a:t>
            </a:r>
            <a:endParaRPr lang="en-US" sz="2000" dirty="0"/>
          </a:p>
        </p:txBody>
      </p:sp>
      <p:sp>
        <p:nvSpPr>
          <p:cNvPr id="4" name="Shape 2"/>
          <p:cNvSpPr/>
          <p:nvPr/>
        </p:nvSpPr>
        <p:spPr>
          <a:xfrm>
            <a:off x="7223760" y="731520"/>
            <a:ext cx="4480560" cy="5394960"/>
          </a:xfrm>
          <a:prstGeom prst="rect">
            <a:avLst/>
          </a:prstGeom>
          <a:solidFill>
            <a:srgbClr val="2E4670"/>
          </a:solidFill>
          <a:ln w="19050">
            <a:solidFill>
              <a:srgbClr val="C9A227"/>
            </a:solidFill>
            <a:prstDash val="dash"/>
          </a:ln>
        </p:spPr>
      </p:sp>
      <p:sp>
        <p:nvSpPr>
          <p:cNvPr id="5" name="Text 3"/>
          <p:cNvSpPr txBox="1"/>
          <p:nvPr/>
        </p:nvSpPr>
        <p:spPr>
          <a:xfrm>
            <a:off x="7406640" y="914400"/>
            <a:ext cx="4114800" cy="5029200"/>
          </a:xfrm>
          <a:prstGeom prst="rect">
            <a:avLst/>
          </a:prstGeom>
          <a:noFill/>
          <a:ln/>
        </p:spPr>
        <p:txBody>
          <a:bodyPr wrap="square" lIns="0" tIns="0" rIns="0" bIns="0" rtlCol="0" anchor="ctr"/>
          <a:lstStyle/>
          <a:p>
            <a:pPr algn="ctr" indent="0" marL="0">
              <a:buNone/>
            </a:pPr>
            <a:r>
              <a:rPr lang="en-US" sz="1600" b="1" dirty="0">
                <a:solidFill>
                  <a:srgbClr val="C9A227"/>
                </a:solidFill>
                <a:latin typeface="Calibri" pitchFamily="34" charset="0"/>
                <a:ea typeface="Calibri" pitchFamily="34" charset="-122"/>
                <a:cs typeface="Calibri" pitchFamily="34" charset="-120"/>
              </a:rPr>
              <a:t>IMAGE J-07</a:t>
            </a:r>
            <a:endParaRPr lang="en-US" sz="1400" dirty="0"/>
          </a:p>
          <a:p>
            <a:pPr algn="ctr" indent="0" marL="0">
              <a:buNone/>
            </a:pPr>
            <a:r>
              <a:rPr lang="en-US" sz="1200" dirty="0">
                <a:solidFill>
                  <a:srgbClr val="EEF2F6"/>
                </a:solidFill>
                <a:latin typeface="Calibri" pitchFamily="34" charset="0"/>
                <a:ea typeface="Calibri" pitchFamily="34" charset="-122"/>
                <a:cs typeface="Calibri" pitchFamily="34" charset="-120"/>
              </a:rPr>
              <a:t>John standing on the Patmos shore at sunset, scroll rolled in hand, looking out to sea.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1 · Ephesus  </a:t>
            </a:r>
            <a:pPr algn="l" indent="0" marL="0">
              <a:buNone/>
            </a:pPr>
            <a:r>
              <a:rPr lang="en-US" sz="2000" b="1" dirty="0">
                <a:solidFill>
                  <a:schemeClr val="accent4"/>
                </a:solidFill>
                <a:latin typeface="Cambria" pitchFamily="34" charset="0"/>
                <a:ea typeface="Cambria" pitchFamily="34" charset="-122"/>
                <a:cs typeface="Cambria" pitchFamily="34" charset="-120"/>
              </a:rPr>
              <a:t>Revelation 2:1–7</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1"/>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Abandoned · new town nearby</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Ephesus</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Leading port city of Roman Asia, near the mouth of the Cayster River</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Selçuk and the ruins of Efes</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İzmir Province; the coastline now lies kilometers from the old harbor</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Not one renaming but a move. As the harbor failed, people settled on nearby Ayasuluk hill around the Basilica of St. John. "Ayasuluk" grew from the Greek title of John, Hagios Theologos. In 1914 the town was renamed Selçuk; the ruins are called Efes.</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River silt slowly choked the harbor and cut the city off from sea trade. A Gothic raid (AD 262) and earthquakes added damage. By the Byzantine era the population had shifted to the hill, and the old city was left to ruin.</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Open on the harbor street with water at its end. Let sediment fill the harbor, pull back until the sea is a sliver on the horizon, then settle on Selçuk and the hill of St. John.</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2 · Smyrna  </a:t>
            </a:r>
            <a:pPr algn="l" indent="0" marL="0">
              <a:buNone/>
            </a:pPr>
            <a:r>
              <a:rPr lang="en-US" sz="2000" b="1" dirty="0">
                <a:solidFill>
                  <a:schemeClr val="accent4"/>
                </a:solidFill>
                <a:latin typeface="Cambria" pitchFamily="34" charset="0"/>
                <a:ea typeface="Cambria" pitchFamily="34" charset="-122"/>
                <a:cs typeface="Cambria" pitchFamily="34" charset="-120"/>
              </a:rPr>
              <a:t>Revelation 2:8–11</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2"/>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Name survived, altered</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Smyrna</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Harbor city at the head of the Gulf of Smyrna, on the Aegean coast</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İzmir</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Türkiye's third largest city; the ancient agora sits inside it</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Language, not replacement. The Greek name Smyrna was carried into Turkish as İzmir. The city was never abandoned, so the name traveled with the people who lived there.</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Destroyed by an earthquake around AD 178 and rebuilt with aid from Marcus Aurelius. Its bishop Polycarp was martyred here about AD 155. Life continued through Byzantine and Ottoman rule; a great fire in 1922 destroyed much of the city.</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One unbroken shot: start low among the agora's columns and rise straight up through the modern city until the gulf and the İzmir skyline fill the frame. Same harbor, same hill, two thousand years apart.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3 · Pergamum  </a:t>
            </a:r>
            <a:pPr algn="l" indent="0" marL="0">
              <a:buNone/>
            </a:pPr>
            <a:r>
              <a:rPr lang="en-US" sz="2000" b="1" dirty="0">
                <a:solidFill>
                  <a:schemeClr val="accent4"/>
                </a:solidFill>
                <a:latin typeface="Cambria" pitchFamily="34" charset="0"/>
                <a:ea typeface="Cambria" pitchFamily="34" charset="-122"/>
                <a:cs typeface="Cambria" pitchFamily="34" charset="-120"/>
              </a:rPr>
              <a:t>Revelation 2:12–17</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2"/>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Name survived, altered</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Pergamum (NKJV: Pergamos)</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Royal Attalid capital on a steep acropolis; left to Rome in 133 BC</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Bergama</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İzmir Province; the modern town fills the plain below the acropolis</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Language change: the Greek Pergamon became the Turkish Bergama. The settlement moved downhill over the centuries, but the name stayed with the place.</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Known for its library, the Great Altar (now in Berlin), and the Asclepieion; it hosted an early temple to Rome and Augustus (29 BC). The city shrank after 7th century Arab raids and came under Turkish, then Ottoman, rule in the 14th century.</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From the steep theater on the acropolis, tilt down past the ruins to Bergama's rooftops on the plain. The vertical drop tells the story: power on the hill then, ordinary life below now.</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4 · Thyatira  </a:t>
            </a:r>
            <a:pPr algn="l" indent="0" marL="0">
              <a:buNone/>
            </a:pPr>
            <a:r>
              <a:rPr lang="en-US" sz="2000" b="1" dirty="0">
                <a:solidFill>
                  <a:schemeClr val="accent4"/>
                </a:solidFill>
                <a:latin typeface="Cambria" pitchFamily="34" charset="0"/>
                <a:ea typeface="Cambria" pitchFamily="34" charset="-122"/>
                <a:cs typeface="Cambria" pitchFamily="34" charset="-120"/>
              </a:rPr>
              <a:t>Revelation 2:18–29</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3"/>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Name replaced · same spot</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Thyatira</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Lydian trade city on the road between Pergamum and Sardis</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Akhisar</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Manisa Province; the town is built directly over the ancient city</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Replaced, not altered. Under Turkish rule the town took a Turkish name, Akhisar, usually rendered "white fortress." Scripture says nothing about this change; it reflects later conquest and language.</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Founded as a Seleucid military settlement and grew into a commercial center; inscriptions record trade guilds, including dyers. Lydia, a seller of purple, came from here (Acts 16:14). Never abandoned, so most of it lies unexcavated under the town.</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Drone over Akhisar's streets, then descend into the small excavated block boxed in by buildings. The ancient city is not beside the modern one; it is underneath it.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5 · Sardis  </a:t>
            </a:r>
            <a:pPr algn="l" indent="0" marL="0">
              <a:buNone/>
            </a:pPr>
            <a:r>
              <a:rPr lang="en-US" sz="2000" b="1" dirty="0">
                <a:solidFill>
                  <a:schemeClr val="accent4"/>
                </a:solidFill>
                <a:latin typeface="Cambria" pitchFamily="34" charset="0"/>
                <a:ea typeface="Cambria" pitchFamily="34" charset="-122"/>
                <a:cs typeface="Cambria" pitchFamily="34" charset="-120"/>
              </a:rPr>
              <a:t>Revelation 3:1–6</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2"/>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Name survived · city faded</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Sardis (Sardes)</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Former capital of Lydia, beneath a high acropolis by the Pactolus River</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Sart</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small village in Manisa Province beside the ruins</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name survived in shortened form as Sart, but the city did not. What remains is a village beside the ruins, not a successor city. Scripture does not tie this to the church's condition.</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Taken by surprise twice despite its "impregnable" acropolis (Cyrus, 546 BC; Antiochus III, 214 BC). Leveled by the AD 17 earthquake and rebuilt with Tiberius' help. Declined after the 7th century; devastated by Timur in 1402.</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Open on the eroding acropolis at dusk, dissolve to the restored gymnasium and synagogue, then widen until village rooftops and the highway appear beside the ruins. A great name, a small village.</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6 · Philadelphia  </a:t>
            </a:r>
            <a:pPr algn="l" indent="0" marL="0">
              <a:buNone/>
            </a:pPr>
            <a:r>
              <a:rPr lang="en-US" sz="2000" b="1" dirty="0">
                <a:solidFill>
                  <a:schemeClr val="accent4"/>
                </a:solidFill>
                <a:latin typeface="Cambria" pitchFamily="34" charset="0"/>
                <a:ea typeface="Cambria" pitchFamily="34" charset="-122"/>
                <a:cs typeface="Cambria" pitchFamily="34" charset="-120"/>
              </a:rPr>
              <a:t>Revelation 3:7–13</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3"/>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Name replaced · same spot</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Philadelphia</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Attalid city in Lydia, gateway to the Phrygian highlands</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Alaşehir</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Manisa Province; Byzantine pillars still stand in the town center</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Renamed more than once: Neocaesarea, then Flavia, honoring Roman rulers; later the Turkish Alaşehir. The meaning of Alaşehir is debated, so the script should not translate it as fact.</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Shaken by the AD 17 earthquake and years of aftershocks. Became the last Byzantine city in western Anatolia, holding out until 1390. Never abandoned; the modern town grew on the same site.</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tremor in ancient streets, then stillness. Cut to the massive brick pillars of the Basilica of St. John standing among modern homes. Present them as an echo of Rev 3:12, not its fulfillment.</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7 · Laodicea  </a:t>
            </a:r>
            <a:pPr algn="l" indent="0" marL="0">
              <a:buNone/>
            </a:pPr>
            <a:r>
              <a:rPr lang="en-US" sz="2000" b="1" dirty="0">
                <a:solidFill>
                  <a:schemeClr val="accent4"/>
                </a:solidFill>
                <a:latin typeface="Cambria" pitchFamily="34" charset="0"/>
                <a:ea typeface="Cambria" pitchFamily="34" charset="-122"/>
                <a:cs typeface="Cambria" pitchFamily="34" charset="-120"/>
              </a:rPr>
              <a:t>Revelation 3:14–22</a:t>
            </a:r>
            <a:endParaRPr lang="en-US" sz="3400" dirty="0"/>
          </a:p>
        </p:txBody>
      </p:sp>
      <p:sp>
        <p:nvSpPr>
          <p:cNvPr id="3" name="Shape 1"/>
          <p:cNvSpPr/>
          <p:nvPr/>
        </p:nvSpPr>
        <p:spPr>
          <a:xfrm>
            <a:off x="9418320" y="457200"/>
            <a:ext cx="2313432" cy="457200"/>
          </a:xfrm>
          <a:prstGeom prst="roundRect">
            <a:avLst>
              <a:gd name="adj" fmla="val 50000"/>
            </a:avLst>
          </a:prstGeom>
          <a:solidFill>
            <a:schemeClr val="accent1"/>
          </a:solidFill>
          <a:ln/>
        </p:spPr>
      </p:sp>
      <p:sp>
        <p:nvSpPr>
          <p:cNvPr id="4" name="Text 2"/>
          <p:cNvSpPr txBox="1"/>
          <p:nvPr/>
        </p:nvSpPr>
        <p:spPr>
          <a:xfrm>
            <a:off x="9418320" y="457200"/>
            <a:ext cx="2313432" cy="457200"/>
          </a:xfrm>
          <a:prstGeom prst="rect">
            <a:avLst/>
          </a:prstGeom>
          <a:noFill/>
          <a:ln/>
        </p:spPr>
        <p:txBody>
          <a:bodyPr wrap="square" lIns="0" tIns="0" rIns="0" bIns="0" rtlCol="0" anchor="ctr"/>
          <a:lstStyle/>
          <a:p>
            <a:pPr algn="ctr" indent="0" marL="0">
              <a:buNone/>
            </a:pPr>
            <a:r>
              <a:rPr lang="en-US" sz="1200" b="1" dirty="0">
                <a:solidFill>
                  <a:schemeClr val="bg1"/>
                </a:solidFill>
                <a:latin typeface="Calibri" pitchFamily="34" charset="0"/>
                <a:ea typeface="Calibri" pitchFamily="34" charset="-122"/>
                <a:cs typeface="Calibri" pitchFamily="34" charset="-120"/>
              </a:rPr>
              <a:t>Abandoned · new town nearby</a:t>
            </a:r>
            <a:endParaRPr lang="en-US" sz="1200" dirty="0"/>
          </a:p>
        </p:txBody>
      </p:sp>
      <p:sp>
        <p:nvSpPr>
          <p:cNvPr id="5" name="Shape 3"/>
          <p:cNvSpPr/>
          <p:nvPr/>
        </p:nvSpPr>
        <p:spPr>
          <a:xfrm>
            <a:off x="457200"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6" name="Text 4"/>
          <p:cNvSpPr txBox="1"/>
          <p:nvPr/>
        </p:nvSpPr>
        <p:spPr>
          <a:xfrm>
            <a:off x="731520"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1"/>
                </a:solidFill>
                <a:latin typeface="Calibri" pitchFamily="34" charset="0"/>
                <a:ea typeface="Calibri" pitchFamily="34" charset="-122"/>
                <a:cs typeface="Calibri" pitchFamily="34" charset="-120"/>
              </a:rPr>
              <a:t>THEN</a:t>
            </a:r>
            <a:endParaRPr lang="en-US" sz="1200" dirty="0"/>
          </a:p>
        </p:txBody>
      </p:sp>
      <p:sp>
        <p:nvSpPr>
          <p:cNvPr id="7" name="Text 5"/>
          <p:cNvSpPr txBox="1"/>
          <p:nvPr/>
        </p:nvSpPr>
        <p:spPr>
          <a:xfrm>
            <a:off x="731520"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Laodicea on the Lycus</a:t>
            </a:r>
            <a:endParaRPr lang="en-US" sz="2200" dirty="0"/>
          </a:p>
        </p:txBody>
      </p:sp>
      <p:sp>
        <p:nvSpPr>
          <p:cNvPr id="8" name="Text 6"/>
          <p:cNvSpPr txBox="1"/>
          <p:nvPr/>
        </p:nvSpPr>
        <p:spPr>
          <a:xfrm>
            <a:off x="731520"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Wealthy Phrygian city: banking, wool, and a medical school</a:t>
            </a:r>
            <a:endParaRPr lang="en-US" sz="1400" dirty="0"/>
          </a:p>
        </p:txBody>
      </p:sp>
      <p:sp>
        <p:nvSpPr>
          <p:cNvPr id="9" name="Shape 7"/>
          <p:cNvSpPr/>
          <p:nvPr/>
        </p:nvSpPr>
        <p:spPr>
          <a:xfrm>
            <a:off x="6428232" y="1280160"/>
            <a:ext cx="5303520" cy="1463040"/>
          </a:xfrm>
          <a:prstGeom prst="roundRect">
            <a:avLst>
              <a:gd name="adj" fmla="val 6250"/>
            </a:avLst>
          </a:prstGeom>
          <a:solidFill>
            <a:schemeClr val="bg2"/>
          </a:solidFill>
          <a:ln/>
          <a:effectLst>
            <a:outerShdw sx="100000" sy="100000" kx="0" ky="0" algn="bl" rotWithShape="0" blurRad="76200" dist="25400" dir="5400000">
              <a:srgbClr val="1B2333">
                <a:alpha val="15000"/>
              </a:srgbClr>
            </a:outerShdw>
          </a:effectLst>
        </p:spPr>
      </p:sp>
      <p:sp>
        <p:nvSpPr>
          <p:cNvPr id="10" name="Text 8"/>
          <p:cNvSpPr txBox="1"/>
          <p:nvPr/>
        </p:nvSpPr>
        <p:spPr>
          <a:xfrm>
            <a:off x="6702552" y="1417320"/>
            <a:ext cx="1828800" cy="274320"/>
          </a:xfrm>
          <a:prstGeom prst="rect">
            <a:avLst/>
          </a:prstGeom>
          <a:noFill/>
          <a:ln/>
        </p:spPr>
        <p:txBody>
          <a:bodyPr wrap="square" lIns="0" tIns="0" rIns="0" bIns="0" rtlCol="0" anchor="t"/>
          <a:lstStyle/>
          <a:p>
            <a:pPr indent="0" marL="0">
              <a:buNone/>
            </a:pPr>
            <a:r>
              <a:rPr lang="en-US" sz="1200" b="1" spc="300" kern="0" dirty="0">
                <a:solidFill>
                  <a:schemeClr val="accent2"/>
                </a:solidFill>
                <a:latin typeface="Calibri" pitchFamily="34" charset="0"/>
                <a:ea typeface="Calibri" pitchFamily="34" charset="-122"/>
                <a:cs typeface="Calibri" pitchFamily="34" charset="-120"/>
              </a:rPr>
              <a:t>NOW</a:t>
            </a:r>
            <a:endParaRPr lang="en-US" sz="1200" dirty="0"/>
          </a:p>
        </p:txBody>
      </p:sp>
      <p:sp>
        <p:nvSpPr>
          <p:cNvPr id="11" name="Text 9"/>
          <p:cNvSpPr txBox="1"/>
          <p:nvPr/>
        </p:nvSpPr>
        <p:spPr>
          <a:xfrm>
            <a:off x="6702552" y="1691640"/>
            <a:ext cx="4846320" cy="41148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Ruins near Denizli</a:t>
            </a:r>
            <a:endParaRPr lang="en-US" sz="2200" dirty="0"/>
          </a:p>
        </p:txBody>
      </p:sp>
      <p:sp>
        <p:nvSpPr>
          <p:cNvPr id="12" name="Text 10"/>
          <p:cNvSpPr txBox="1"/>
          <p:nvPr/>
        </p:nvSpPr>
        <p:spPr>
          <a:xfrm>
            <a:off x="6702552" y="2103120"/>
            <a:ext cx="4846320" cy="548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Denizli Province; life moved to the nearby city of Denizli</a:t>
            </a:r>
            <a:endParaRPr lang="en-US" sz="1400" dirty="0"/>
          </a:p>
        </p:txBody>
      </p:sp>
      <p:sp>
        <p:nvSpPr>
          <p:cNvPr id="13" name="Shape 11"/>
          <p:cNvSpPr/>
          <p:nvPr/>
        </p:nvSpPr>
        <p:spPr>
          <a:xfrm>
            <a:off x="5824728" y="1737360"/>
            <a:ext cx="548640" cy="548640"/>
          </a:xfrm>
          <a:prstGeom prst="ellipse">
            <a:avLst/>
          </a:prstGeom>
          <a:solidFill>
            <a:schemeClr val="tx2"/>
          </a:solidFill>
          <a:ln/>
        </p:spPr>
      </p:sp>
      <p:sp>
        <p:nvSpPr>
          <p:cNvPr id="14" name="Text 12"/>
          <p:cNvSpPr txBox="1"/>
          <p:nvPr/>
        </p:nvSpPr>
        <p:spPr>
          <a:xfrm>
            <a:off x="5824728" y="17373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libri" pitchFamily="34" charset="0"/>
                <a:ea typeface="Calibri" pitchFamily="34" charset="-122"/>
                <a:cs typeface="Calibri" pitchFamily="34" charset="-120"/>
              </a:rPr>
              <a:t>→</a:t>
            </a:r>
            <a:endParaRPr lang="en-US" sz="2000" dirty="0"/>
          </a:p>
        </p:txBody>
      </p:sp>
      <p:sp>
        <p:nvSpPr>
          <p:cNvPr id="15" name="Text 13"/>
          <p:cNvSpPr txBox="1"/>
          <p:nvPr/>
        </p:nvSpPr>
        <p:spPr>
          <a:xfrm>
            <a:off x="457200" y="3017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Why the name changed</a:t>
            </a:r>
            <a:endParaRPr lang="en-US" sz="1600" dirty="0"/>
          </a:p>
        </p:txBody>
      </p:sp>
      <p:sp>
        <p:nvSpPr>
          <p:cNvPr id="16" name="Text 14"/>
          <p:cNvSpPr txBox="1"/>
          <p:nvPr/>
        </p:nvSpPr>
        <p:spPr>
          <a:xfrm>
            <a:off x="2926080" y="3017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Replaced. Laodicea was named for Laodice, wife of Antiochus II. The ancient city was abandoned and its people moved to nearby settlements that grew into Denizli. The old name survives only at the archaeological site.</a:t>
            </a:r>
            <a:endParaRPr lang="en-US" sz="1400" dirty="0"/>
          </a:p>
        </p:txBody>
      </p:sp>
      <p:sp>
        <p:nvSpPr>
          <p:cNvPr id="17" name="Text 15"/>
          <p:cNvSpPr txBox="1"/>
          <p:nvPr/>
        </p:nvSpPr>
        <p:spPr>
          <a:xfrm>
            <a:off x="457200" y="4160520"/>
            <a:ext cx="2286000" cy="100584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What happened to the city</a:t>
            </a:r>
            <a:endParaRPr lang="en-US" sz="1600" dirty="0"/>
          </a:p>
        </p:txBody>
      </p:sp>
      <p:sp>
        <p:nvSpPr>
          <p:cNvPr id="18" name="Text 16"/>
          <p:cNvSpPr txBox="1"/>
          <p:nvPr/>
        </p:nvSpPr>
        <p:spPr>
          <a:xfrm>
            <a:off x="2926080" y="4160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Rebuilt after the AD 60 earthquake from its own resources, without Rome's help. Water came by aqueduct from distant springs. Earthquakes and frontier warfare wore it down, and it was abandoned in the Turkish era.</a:t>
            </a:r>
            <a:endParaRPr lang="en-US" sz="1400" dirty="0"/>
          </a:p>
        </p:txBody>
      </p:sp>
      <p:sp>
        <p:nvSpPr>
          <p:cNvPr id="19" name="Text 17"/>
          <p:cNvSpPr txBox="1"/>
          <p:nvPr/>
        </p:nvSpPr>
        <p:spPr>
          <a:xfrm>
            <a:off x="457200" y="5303520"/>
            <a:ext cx="2286000" cy="1005840"/>
          </a:xfrm>
          <a:prstGeom prst="rect">
            <a:avLst/>
          </a:prstGeom>
          <a:noFill/>
          <a:ln/>
        </p:spPr>
        <p:txBody>
          <a:bodyPr wrap="square" lIns="0" tIns="0" rIns="0" bIns="0" rtlCol="0" anchor="t"/>
          <a:lstStyle/>
          <a:p>
            <a:pPr indent="0" marL="0">
              <a:buNone/>
            </a:pPr>
            <a:r>
              <a:rPr lang="en-US" sz="1600" b="1" dirty="0">
                <a:solidFill>
                  <a:schemeClr val="accent2"/>
                </a:solidFill>
                <a:latin typeface="Cambria" pitchFamily="34" charset="0"/>
                <a:ea typeface="Cambria" pitchFamily="34" charset="-122"/>
                <a:cs typeface="Cambria" pitchFamily="34" charset="-120"/>
              </a:rPr>
              <a:t>Then → Now visual</a:t>
            </a:r>
            <a:endParaRPr lang="en-US" sz="1600" dirty="0"/>
          </a:p>
        </p:txBody>
      </p:sp>
      <p:sp>
        <p:nvSpPr>
          <p:cNvPr id="20" name="Text 18"/>
          <p:cNvSpPr txBox="1"/>
          <p:nvPr/>
        </p:nvSpPr>
        <p:spPr>
          <a:xfrm>
            <a:off x="2926080" y="5303520"/>
            <a:ext cx="8805672"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From Laodicea's stone water pipes, pan across the Lycus valley to the white terraces of Hierapolis, then to modern Denizli. If the hot and cold water contrast is used, label it as an interpretation.</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Six required elements in every episode</a:t>
            </a:r>
            <a:endParaRPr lang="en-US" sz="3400" dirty="0"/>
          </a:p>
        </p:txBody>
      </p:sp>
      <p:sp>
        <p:nvSpPr>
          <p:cNvPr id="3" name="Shape 1"/>
          <p:cNvSpPr/>
          <p:nvPr/>
        </p:nvSpPr>
        <p:spPr>
          <a:xfrm>
            <a:off x="457200"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731520" y="1645920"/>
            <a:ext cx="640080" cy="640080"/>
          </a:xfrm>
          <a:prstGeom prst="ellipse">
            <a:avLst/>
          </a:prstGeom>
          <a:solidFill>
            <a:schemeClr val="accent1"/>
          </a:solidFill>
          <a:ln/>
        </p:spPr>
      </p:sp>
      <p:sp>
        <p:nvSpPr>
          <p:cNvPr id="5" name="Text 3"/>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731520" y="23774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Biblical name</a:t>
            </a:r>
            <a:endParaRPr lang="en-US" sz="2000" dirty="0"/>
          </a:p>
        </p:txBody>
      </p:sp>
      <p:sp>
        <p:nvSpPr>
          <p:cNvPr id="7" name="Text 5"/>
          <p:cNvSpPr txBox="1"/>
          <p:nvPr/>
        </p:nvSpPr>
        <p:spPr>
          <a:xfrm>
            <a:off x="731520" y="27889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name used in Revelation (NKJV)</a:t>
            </a:r>
            <a:endParaRPr lang="en-US" sz="1400" dirty="0"/>
          </a:p>
        </p:txBody>
      </p:sp>
      <p:sp>
        <p:nvSpPr>
          <p:cNvPr id="8" name="Shape 6"/>
          <p:cNvSpPr/>
          <p:nvPr/>
        </p:nvSpPr>
        <p:spPr>
          <a:xfrm>
            <a:off x="4279392"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553712" y="1645920"/>
            <a:ext cx="640080" cy="640080"/>
          </a:xfrm>
          <a:prstGeom prst="ellipse">
            <a:avLst/>
          </a:prstGeom>
          <a:solidFill>
            <a:schemeClr val="accent1"/>
          </a:solidFill>
          <a:ln/>
        </p:spPr>
      </p:sp>
      <p:sp>
        <p:nvSpPr>
          <p:cNvPr id="10" name="Text 8"/>
          <p:cNvSpPr txBox="1"/>
          <p:nvPr/>
        </p:nvSpPr>
        <p:spPr>
          <a:xfrm>
            <a:off x="4553712"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1" name="Text 9"/>
          <p:cNvSpPr txBox="1"/>
          <p:nvPr/>
        </p:nvSpPr>
        <p:spPr>
          <a:xfrm>
            <a:off x="4553712" y="23774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Ancient location</a:t>
            </a:r>
            <a:endParaRPr lang="en-US" sz="2000" dirty="0"/>
          </a:p>
        </p:txBody>
      </p:sp>
      <p:sp>
        <p:nvSpPr>
          <p:cNvPr id="12" name="Text 10"/>
          <p:cNvSpPr txBox="1"/>
          <p:nvPr/>
        </p:nvSpPr>
        <p:spPr>
          <a:xfrm>
            <a:off x="4553712" y="27889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Where it sat in the Roman province of Asia</a:t>
            </a:r>
            <a:endParaRPr lang="en-US" sz="1400" dirty="0"/>
          </a:p>
        </p:txBody>
      </p:sp>
      <p:sp>
        <p:nvSpPr>
          <p:cNvPr id="13" name="Shape 11"/>
          <p:cNvSpPr/>
          <p:nvPr/>
        </p:nvSpPr>
        <p:spPr>
          <a:xfrm>
            <a:off x="8101584"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8375904" y="1645920"/>
            <a:ext cx="640080" cy="640080"/>
          </a:xfrm>
          <a:prstGeom prst="ellipse">
            <a:avLst/>
          </a:prstGeom>
          <a:solidFill>
            <a:schemeClr val="accent1"/>
          </a:solidFill>
          <a:ln/>
        </p:spPr>
      </p:sp>
      <p:sp>
        <p:nvSpPr>
          <p:cNvPr id="15" name="Text 13"/>
          <p:cNvSpPr txBox="1"/>
          <p:nvPr/>
        </p:nvSpPr>
        <p:spPr>
          <a:xfrm>
            <a:off x="8375904" y="16459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6" name="Text 14"/>
          <p:cNvSpPr txBox="1"/>
          <p:nvPr/>
        </p:nvSpPr>
        <p:spPr>
          <a:xfrm>
            <a:off x="8375904" y="23774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Modern name</a:t>
            </a:r>
            <a:endParaRPr lang="en-US" sz="2000" dirty="0"/>
          </a:p>
        </p:txBody>
      </p:sp>
      <p:sp>
        <p:nvSpPr>
          <p:cNvPr id="17" name="Text 15"/>
          <p:cNvSpPr txBox="1"/>
          <p:nvPr/>
        </p:nvSpPr>
        <p:spPr>
          <a:xfrm>
            <a:off x="8375904" y="27889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What the place is called in Türkiye today</a:t>
            </a:r>
            <a:endParaRPr lang="en-US" sz="1400" dirty="0"/>
          </a:p>
        </p:txBody>
      </p:sp>
      <p:sp>
        <p:nvSpPr>
          <p:cNvPr id="18" name="Shape 16"/>
          <p:cNvSpPr/>
          <p:nvPr/>
        </p:nvSpPr>
        <p:spPr>
          <a:xfrm>
            <a:off x="457200"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19" name="Shape 17"/>
          <p:cNvSpPr/>
          <p:nvPr/>
        </p:nvSpPr>
        <p:spPr>
          <a:xfrm>
            <a:off x="731520" y="4160520"/>
            <a:ext cx="640080" cy="640080"/>
          </a:xfrm>
          <a:prstGeom prst="ellipse">
            <a:avLst/>
          </a:prstGeom>
          <a:solidFill>
            <a:schemeClr val="accent1"/>
          </a:solidFill>
          <a:ln/>
        </p:spPr>
      </p:sp>
      <p:sp>
        <p:nvSpPr>
          <p:cNvPr id="20" name="Text 18"/>
          <p:cNvSpPr txBox="1"/>
          <p:nvPr/>
        </p:nvSpPr>
        <p:spPr>
          <a:xfrm>
            <a:off x="731520" y="41605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1" name="Text 19"/>
          <p:cNvSpPr txBox="1"/>
          <p:nvPr/>
        </p:nvSpPr>
        <p:spPr>
          <a:xfrm>
            <a:off x="731520" y="48920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Why the name changed</a:t>
            </a:r>
            <a:endParaRPr lang="en-US" sz="2000" dirty="0"/>
          </a:p>
        </p:txBody>
      </p:sp>
      <p:sp>
        <p:nvSpPr>
          <p:cNvPr id="22" name="Text 20"/>
          <p:cNvSpPr txBox="1"/>
          <p:nvPr/>
        </p:nvSpPr>
        <p:spPr>
          <a:xfrm>
            <a:off x="731520" y="53035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Language shift, politics, population change, abandonment, or a newer nearby town</a:t>
            </a:r>
            <a:endParaRPr lang="en-US" sz="1400" dirty="0"/>
          </a:p>
        </p:txBody>
      </p:sp>
      <p:sp>
        <p:nvSpPr>
          <p:cNvPr id="23" name="Shape 21"/>
          <p:cNvSpPr/>
          <p:nvPr/>
        </p:nvSpPr>
        <p:spPr>
          <a:xfrm>
            <a:off x="4279392"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24" name="Shape 22"/>
          <p:cNvSpPr/>
          <p:nvPr/>
        </p:nvSpPr>
        <p:spPr>
          <a:xfrm>
            <a:off x="4553712" y="4160520"/>
            <a:ext cx="640080" cy="640080"/>
          </a:xfrm>
          <a:prstGeom prst="ellipse">
            <a:avLst/>
          </a:prstGeom>
          <a:solidFill>
            <a:schemeClr val="accent1"/>
          </a:solidFill>
          <a:ln/>
        </p:spPr>
      </p:sp>
      <p:sp>
        <p:nvSpPr>
          <p:cNvPr id="25" name="Text 23"/>
          <p:cNvSpPr txBox="1"/>
          <p:nvPr/>
        </p:nvSpPr>
        <p:spPr>
          <a:xfrm>
            <a:off x="4553712" y="41605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6" name="Text 24"/>
          <p:cNvSpPr txBox="1"/>
          <p:nvPr/>
        </p:nvSpPr>
        <p:spPr>
          <a:xfrm>
            <a:off x="4553712" y="48920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What happened to the city</a:t>
            </a:r>
            <a:endParaRPr lang="en-US" sz="2000" dirty="0"/>
          </a:p>
        </p:txBody>
      </p:sp>
      <p:sp>
        <p:nvSpPr>
          <p:cNvPr id="27" name="Text 25"/>
          <p:cNvSpPr txBox="1"/>
          <p:nvPr/>
        </p:nvSpPr>
        <p:spPr>
          <a:xfrm>
            <a:off x="4553712" y="53035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Earthquakes, war, silting, trade shifts, conquest, rebuilding</a:t>
            </a:r>
            <a:endParaRPr lang="en-US" sz="1400" dirty="0"/>
          </a:p>
        </p:txBody>
      </p:sp>
      <p:sp>
        <p:nvSpPr>
          <p:cNvPr id="28" name="Shape 26"/>
          <p:cNvSpPr/>
          <p:nvPr/>
        </p:nvSpPr>
        <p:spPr>
          <a:xfrm>
            <a:off x="8101584"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29" name="Shape 27"/>
          <p:cNvSpPr/>
          <p:nvPr/>
        </p:nvSpPr>
        <p:spPr>
          <a:xfrm>
            <a:off x="8375904" y="4160520"/>
            <a:ext cx="640080" cy="640080"/>
          </a:xfrm>
          <a:prstGeom prst="ellipse">
            <a:avLst/>
          </a:prstGeom>
          <a:solidFill>
            <a:schemeClr val="accent2"/>
          </a:solidFill>
          <a:ln/>
        </p:spPr>
      </p:sp>
      <p:sp>
        <p:nvSpPr>
          <p:cNvPr id="30" name="Text 28"/>
          <p:cNvSpPr txBox="1"/>
          <p:nvPr/>
        </p:nvSpPr>
        <p:spPr>
          <a:xfrm>
            <a:off x="8375904" y="41605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6</a:t>
            </a:r>
            <a:endParaRPr lang="en-US" sz="2200" dirty="0"/>
          </a:p>
        </p:txBody>
      </p:sp>
      <p:sp>
        <p:nvSpPr>
          <p:cNvPr id="31" name="Text 29"/>
          <p:cNvSpPr txBox="1"/>
          <p:nvPr/>
        </p:nvSpPr>
        <p:spPr>
          <a:xfrm>
            <a:off x="8375904" y="489204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Then → Now visual</a:t>
            </a:r>
            <a:endParaRPr lang="en-US" sz="2000" dirty="0"/>
          </a:p>
        </p:txBody>
      </p:sp>
      <p:sp>
        <p:nvSpPr>
          <p:cNvPr id="32" name="Text 30"/>
          <p:cNvSpPr txBox="1"/>
          <p:nvPr/>
        </p:nvSpPr>
        <p:spPr>
          <a:xfrm>
            <a:off x="8375904" y="5303520"/>
            <a:ext cx="3108960" cy="7315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 geographic transition with narration, never just a label</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Big Picture hermeneutic</a:t>
            </a:r>
            <a:endParaRPr lang="en-US" sz="3400" dirty="0"/>
          </a:p>
        </p:txBody>
      </p:sp>
      <p:sp>
        <p:nvSpPr>
          <p:cNvPr id="3" name="Shape 1"/>
          <p:cNvSpPr/>
          <p:nvPr/>
        </p:nvSpPr>
        <p:spPr>
          <a:xfrm>
            <a:off x="457200" y="1371600"/>
            <a:ext cx="3611880" cy="3291840"/>
          </a:xfrm>
          <a:prstGeom prst="roundRect">
            <a:avLst>
              <a:gd name="adj" fmla="val 2778"/>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731520" y="1645920"/>
            <a:ext cx="548640" cy="548640"/>
          </a:xfrm>
          <a:prstGeom prst="ellipse">
            <a:avLst/>
          </a:prstGeom>
          <a:solidFill>
            <a:schemeClr val="tx2"/>
          </a:solidFill>
          <a:ln/>
        </p:spPr>
      </p:sp>
      <p:sp>
        <p:nvSpPr>
          <p:cNvPr id="5"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731520" y="233172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Daniel</a:t>
            </a:r>
            <a:endParaRPr lang="en-US" sz="2000" dirty="0"/>
          </a:p>
        </p:txBody>
      </p:sp>
      <p:sp>
        <p:nvSpPr>
          <p:cNvPr id="7" name="Text 5"/>
          <p:cNvSpPr txBox="1"/>
          <p:nvPr/>
        </p:nvSpPr>
        <p:spPr>
          <a:xfrm>
            <a:off x="731520" y="2743200"/>
            <a:ext cx="3108960" cy="320040"/>
          </a:xfrm>
          <a:prstGeom prst="rect">
            <a:avLst/>
          </a:prstGeom>
          <a:noFill/>
          <a:ln/>
        </p:spPr>
        <p:txBody>
          <a:bodyPr wrap="square" lIns="0" tIns="0" rIns="0" bIns="0" rtlCol="0" anchor="t"/>
          <a:lstStyle/>
          <a:p>
            <a:pPr indent="0" marL="0">
              <a:buNone/>
            </a:pPr>
            <a:r>
              <a:rPr lang="en-US" sz="1400" b="1" i="1" dirty="0">
                <a:solidFill>
                  <a:schemeClr val="tx2"/>
                </a:solidFill>
                <a:latin typeface="Calibri" pitchFamily="34" charset="0"/>
                <a:ea typeface="Calibri" pitchFamily="34" charset="-122"/>
                <a:cs typeface="Calibri" pitchFamily="34" charset="-120"/>
              </a:rPr>
              <a:t>Structural spine</a:t>
            </a:r>
            <a:endParaRPr lang="en-US" sz="1400" dirty="0"/>
          </a:p>
        </p:txBody>
      </p:sp>
      <p:sp>
        <p:nvSpPr>
          <p:cNvPr id="8" name="Text 6"/>
          <p:cNvSpPr txBox="1"/>
          <p:nvPr/>
        </p:nvSpPr>
        <p:spPr>
          <a:xfrm>
            <a:off x="731520" y="3154680"/>
            <a:ext cx="31089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civil, political, and sanctuary timeline from Babylon to the judgment and the standing up of Michael (Dan 12:1).</a:t>
            </a:r>
            <a:endParaRPr lang="en-US" sz="1400" dirty="0"/>
          </a:p>
        </p:txBody>
      </p:sp>
      <p:sp>
        <p:nvSpPr>
          <p:cNvPr id="9" name="Shape 7"/>
          <p:cNvSpPr/>
          <p:nvPr/>
        </p:nvSpPr>
        <p:spPr>
          <a:xfrm>
            <a:off x="4279392" y="1371600"/>
            <a:ext cx="3611880" cy="3291840"/>
          </a:xfrm>
          <a:prstGeom prst="roundRect">
            <a:avLst>
              <a:gd name="adj" fmla="val 2778"/>
            </a:avLst>
          </a:prstGeom>
          <a:solidFill>
            <a:schemeClr val="bg2"/>
          </a:solidFill>
          <a:ln/>
          <a:effectLst>
            <a:outerShdw sx="100000" sy="100000" kx="0" ky="0" algn="bl" rotWithShape="0" blurRad="76200" dist="25400" dir="5400000">
              <a:srgbClr val="1B2333">
                <a:alpha val="15000"/>
              </a:srgbClr>
            </a:outerShdw>
          </a:effectLst>
        </p:spPr>
      </p:sp>
      <p:sp>
        <p:nvSpPr>
          <p:cNvPr id="10" name="Shape 8"/>
          <p:cNvSpPr/>
          <p:nvPr/>
        </p:nvSpPr>
        <p:spPr>
          <a:xfrm>
            <a:off x="4553712" y="1645920"/>
            <a:ext cx="548640" cy="548640"/>
          </a:xfrm>
          <a:prstGeom prst="ellipse">
            <a:avLst/>
          </a:prstGeom>
          <a:solidFill>
            <a:schemeClr val="accent1"/>
          </a:solidFill>
          <a:ln/>
        </p:spPr>
      </p:sp>
      <p:sp>
        <p:nvSpPr>
          <p:cNvPr id="11" name="Text 9"/>
          <p:cNvSpPr txBox="1"/>
          <p:nvPr/>
        </p:nvSpPr>
        <p:spPr>
          <a:xfrm>
            <a:off x="4553712"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12" name="Text 10"/>
          <p:cNvSpPr txBox="1"/>
          <p:nvPr/>
        </p:nvSpPr>
        <p:spPr>
          <a:xfrm>
            <a:off x="4553712" y="233172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The seven churches</a:t>
            </a:r>
            <a:endParaRPr lang="en-US" sz="2000" dirty="0"/>
          </a:p>
        </p:txBody>
      </p:sp>
      <p:sp>
        <p:nvSpPr>
          <p:cNvPr id="13" name="Text 11"/>
          <p:cNvSpPr txBox="1"/>
          <p:nvPr/>
        </p:nvSpPr>
        <p:spPr>
          <a:xfrm>
            <a:off x="4553712" y="2743200"/>
            <a:ext cx="3108960" cy="320040"/>
          </a:xfrm>
          <a:prstGeom prst="rect">
            <a:avLst/>
          </a:prstGeom>
          <a:noFill/>
          <a:ln/>
        </p:spPr>
        <p:txBody>
          <a:bodyPr wrap="square" lIns="0" tIns="0" rIns="0" bIns="0" rtlCol="0" anchor="t"/>
          <a:lstStyle/>
          <a:p>
            <a:pPr indent="0" marL="0">
              <a:buNone/>
            </a:pPr>
            <a:r>
              <a:rPr lang="en-US" sz="1400" b="1" i="1" dirty="0">
                <a:solidFill>
                  <a:schemeClr val="accent1"/>
                </a:solidFill>
                <a:latin typeface="Calibri" pitchFamily="34" charset="0"/>
                <a:ea typeface="Calibri" pitchFamily="34" charset="-122"/>
                <a:cs typeface="Calibri" pitchFamily="34" charset="-120"/>
              </a:rPr>
              <a:t>Spiritual experience</a:t>
            </a:r>
            <a:endParaRPr lang="en-US" sz="1400" dirty="0"/>
          </a:p>
        </p:txBody>
      </p:sp>
      <p:sp>
        <p:nvSpPr>
          <p:cNvPr id="14" name="Text 12"/>
          <p:cNvSpPr txBox="1"/>
          <p:nvPr/>
        </p:nvSpPr>
        <p:spPr>
          <a:xfrm>
            <a:off x="4553712" y="3154680"/>
            <a:ext cx="31089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spiritual state, persecutions, compromises, and victories of God's people across those eras.</a:t>
            </a:r>
            <a:endParaRPr lang="en-US" sz="1400" dirty="0"/>
          </a:p>
        </p:txBody>
      </p:sp>
      <p:sp>
        <p:nvSpPr>
          <p:cNvPr id="15" name="Shape 13"/>
          <p:cNvSpPr/>
          <p:nvPr/>
        </p:nvSpPr>
        <p:spPr>
          <a:xfrm>
            <a:off x="8101584" y="1371600"/>
            <a:ext cx="3611880" cy="3291840"/>
          </a:xfrm>
          <a:prstGeom prst="roundRect">
            <a:avLst>
              <a:gd name="adj" fmla="val 2778"/>
            </a:avLst>
          </a:prstGeom>
          <a:solidFill>
            <a:schemeClr val="bg2"/>
          </a:solidFill>
          <a:ln/>
          <a:effectLst>
            <a:outerShdw sx="100000" sy="100000" kx="0" ky="0" algn="bl" rotWithShape="0" blurRad="76200" dist="25400" dir="5400000">
              <a:srgbClr val="1B2333">
                <a:alpha val="15000"/>
              </a:srgbClr>
            </a:outerShdw>
          </a:effectLst>
        </p:spPr>
      </p:sp>
      <p:sp>
        <p:nvSpPr>
          <p:cNvPr id="16" name="Shape 14"/>
          <p:cNvSpPr/>
          <p:nvPr/>
        </p:nvSpPr>
        <p:spPr>
          <a:xfrm>
            <a:off x="8375904" y="1645920"/>
            <a:ext cx="548640" cy="548640"/>
          </a:xfrm>
          <a:prstGeom prst="ellipse">
            <a:avLst/>
          </a:prstGeom>
          <a:solidFill>
            <a:schemeClr val="accent2"/>
          </a:solidFill>
          <a:ln/>
        </p:spPr>
      </p:sp>
      <p:sp>
        <p:nvSpPr>
          <p:cNvPr id="17" name="Text 15"/>
          <p:cNvSpPr txBox="1"/>
          <p:nvPr/>
        </p:nvSpPr>
        <p:spPr>
          <a:xfrm>
            <a:off x="8375904" y="16459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8375904" y="2331720"/>
            <a:ext cx="31089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OT and NT typology</a:t>
            </a:r>
            <a:endParaRPr lang="en-US" sz="2000" dirty="0"/>
          </a:p>
        </p:txBody>
      </p:sp>
      <p:sp>
        <p:nvSpPr>
          <p:cNvPr id="19" name="Text 17"/>
          <p:cNvSpPr txBox="1"/>
          <p:nvPr/>
        </p:nvSpPr>
        <p:spPr>
          <a:xfrm>
            <a:off x="8375904" y="2743200"/>
            <a:ext cx="3108960" cy="320040"/>
          </a:xfrm>
          <a:prstGeom prst="rect">
            <a:avLst/>
          </a:prstGeom>
          <a:noFill/>
          <a:ln/>
        </p:spPr>
        <p:txBody>
          <a:bodyPr wrap="square" lIns="0" tIns="0" rIns="0" bIns="0" rtlCol="0" anchor="t"/>
          <a:lstStyle/>
          <a:p>
            <a:pPr indent="0" marL="0">
              <a:buNone/>
            </a:pPr>
            <a:r>
              <a:rPr lang="en-US" sz="1400" b="1" i="1" dirty="0">
                <a:solidFill>
                  <a:schemeClr val="accent2"/>
                </a:solidFill>
                <a:latin typeface="Calibri" pitchFamily="34" charset="0"/>
                <a:ea typeface="Calibri" pitchFamily="34" charset="-122"/>
                <a:cs typeface="Calibri" pitchFamily="34" charset="-120"/>
              </a:rPr>
              <a:t>Scriptural lens</a:t>
            </a:r>
            <a:endParaRPr lang="en-US" sz="1400" dirty="0"/>
          </a:p>
        </p:txBody>
      </p:sp>
      <p:sp>
        <p:nvSpPr>
          <p:cNvPr id="20" name="Text 18"/>
          <p:cNvSpPr txBox="1"/>
          <p:nvPr/>
        </p:nvSpPr>
        <p:spPr>
          <a:xfrm>
            <a:off x="8375904" y="3154680"/>
            <a:ext cx="3108960" cy="13716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Characters, crises, and divine interventions used as living illustrations of what each era faced.</a:t>
            </a:r>
            <a:endParaRPr lang="en-US" sz="1400" dirty="0"/>
          </a:p>
        </p:txBody>
      </p:sp>
      <p:sp>
        <p:nvSpPr>
          <p:cNvPr id="21" name="Shape 19"/>
          <p:cNvSpPr/>
          <p:nvPr/>
        </p:nvSpPr>
        <p:spPr>
          <a:xfrm>
            <a:off x="457200" y="4983480"/>
            <a:ext cx="11274552" cy="1188720"/>
          </a:xfrm>
          <a:prstGeom prst="roundRect">
            <a:avLst>
              <a:gd name="adj" fmla="val 6154"/>
            </a:avLst>
          </a:prstGeom>
          <a:solidFill>
            <a:schemeClr val="bg2"/>
          </a:solidFill>
          <a:ln/>
        </p:spPr>
      </p:sp>
      <p:sp>
        <p:nvSpPr>
          <p:cNvPr id="22" name="Text 20"/>
          <p:cNvSpPr txBox="1"/>
          <p:nvPr/>
        </p:nvSpPr>
        <p:spPr>
          <a:xfrm>
            <a:off x="685800" y="5074920"/>
            <a:ext cx="10881360" cy="100584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Overlap check: </a:t>
            </a:r>
            <a:pPr indent="0" marL="0">
              <a:buNone/>
            </a:pPr>
            <a:r>
              <a:rPr lang="en-US" sz="1400" dirty="0">
                <a:solidFill>
                  <a:schemeClr val="tx1"/>
                </a:solidFill>
                <a:latin typeface="Calibri" pitchFamily="34" charset="0"/>
                <a:ea typeface="Calibri" pitchFamily="34" charset="-122"/>
                <a:cs typeface="Calibri" pitchFamily="34" charset="-120"/>
              </a:rPr>
              <a:t>Daniel's spine begins in Babylon (about 605 BC); the churches begin with the apostles. The two layers only run together from the first century forward, so the study should show where the overlay starts.</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Roster check: all seven, one duplicate</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74552" cy="914400"/>
        </p:xfrm>
        <a:graphic>
          <a:graphicData uri="http://schemas.openxmlformats.org/drawingml/2006/table">
            <a:tbl>
              <a:tblPr/>
              <a:tblGrid>
                <a:gridCol w="457200"/>
                <a:gridCol w="1554480"/>
                <a:gridCol w="1554480"/>
                <a:gridCol w="3749040"/>
                <a:gridCol w="3959352"/>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Church</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Reference</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Project file</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Ephesus</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2:1–7</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Episode 2</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Title only; no content yet</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Smyrna</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2:8–11</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"SMYRA"</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 episode number; file name misspelled</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Pergamum</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2:12–17</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Episode 4 + "Pergamum — The compromising church"</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DUPLICATE: two files for one church; merge</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Thyatira</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2:18–29</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Episode 5</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Complete draft</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Sardis</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3:1–6</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"Sardis"</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No episode number, and no open slot</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Philadelphia</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3:7–13</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Episode 6</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Number collides with Sardis; should be 7</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475488">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Laodicea</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Rev 3:14–22</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Episode 7</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Title only; should be 8</a:t>
                      </a:r>
                      <a:endParaRPr lang="en-US" sz="1400" dirty="0">
                        <a:latin typeface="Calibri" charset="0"/>
                        <a:ea typeface="Calibri" charset="0"/>
                        <a:cs typeface="Calibri" charset="0"/>
                      </a:endParaRPr>
                    </a:p>
                  </a:txBody>
                  <a:tcPr marL="91440" marR="91440" marT="45720" marB="4572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4" name="Shape 1"/>
          <p:cNvSpPr/>
          <p:nvPr/>
        </p:nvSpPr>
        <p:spPr>
          <a:xfrm>
            <a:off x="457200" y="5440680"/>
            <a:ext cx="11274552" cy="822960"/>
          </a:xfrm>
          <a:prstGeom prst="roundRect">
            <a:avLst>
              <a:gd name="adj" fmla="val 8889"/>
            </a:avLst>
          </a:prstGeom>
          <a:solidFill>
            <a:schemeClr val="bg2"/>
          </a:solidFill>
          <a:ln/>
        </p:spPr>
      </p:sp>
      <p:sp>
        <p:nvSpPr>
          <p:cNvPr id="5" name="Text 2"/>
          <p:cNvSpPr txBox="1"/>
          <p:nvPr/>
        </p:nvSpPr>
        <p:spPr>
          <a:xfrm>
            <a:off x="685800" y="5532120"/>
            <a:ext cx="10881360" cy="640080"/>
          </a:xfrm>
          <a:prstGeom prst="rect">
            <a:avLst/>
          </a:prstGeom>
          <a:noFill/>
          <a:ln/>
        </p:spPr>
        <p:txBody>
          <a:bodyPr wrap="square" lIns="0" tIns="0" rIns="0" bIns="0" rtlCol="0" anchor="ctr"/>
          <a:lstStyle/>
          <a:p>
            <a:pPr indent="0" marL="0">
              <a:buNone/>
            </a:pPr>
            <a:r>
              <a:rPr lang="en-US" sz="1400" b="1" dirty="0">
                <a:solidFill>
                  <a:schemeClr val="accent1"/>
                </a:solidFill>
                <a:latin typeface="Calibri" pitchFamily="34" charset="0"/>
                <a:ea typeface="Calibri" pitchFamily="34" charset="-122"/>
                <a:cs typeface="Calibri" pitchFamily="34" charset="-120"/>
              </a:rPr>
              <a:t>Fix: </a:t>
            </a:r>
            <a:pPr indent="0" marL="0">
              <a:buNone/>
            </a:pPr>
            <a:r>
              <a:rPr lang="en-US" sz="1400" dirty="0">
                <a:solidFill>
                  <a:schemeClr val="tx1"/>
                </a:solidFill>
                <a:latin typeface="Calibri" pitchFamily="34" charset="0"/>
                <a:ea typeface="Calibri" pitchFamily="34" charset="-122"/>
                <a:cs typeface="Calibri" pitchFamily="34" charset="-120"/>
              </a:rPr>
              <a:t>Episode 1 = introduction (Daniel and Revelation connected); Episodes 2–8 = the seven churches in Revelation order. Sardis becomes 6, Philadelphia 7, Laodicea 8.</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Risks to manage before recording</a:t>
            </a:r>
            <a:endParaRPr lang="en-US" sz="3400" dirty="0"/>
          </a:p>
        </p:txBody>
      </p:sp>
      <p:sp>
        <p:nvSpPr>
          <p:cNvPr id="3" name="Shape 1"/>
          <p:cNvSpPr/>
          <p:nvPr/>
        </p:nvSpPr>
        <p:spPr>
          <a:xfrm>
            <a:off x="457200"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4" name="Shape 2"/>
          <p:cNvSpPr/>
          <p:nvPr/>
        </p:nvSpPr>
        <p:spPr>
          <a:xfrm>
            <a:off x="731520" y="1645920"/>
            <a:ext cx="548640" cy="548640"/>
          </a:xfrm>
          <a:prstGeom prst="ellipse">
            <a:avLst/>
          </a:prstGeom>
          <a:solidFill>
            <a:schemeClr val="accent1"/>
          </a:solidFill>
          <a:ln/>
        </p:spPr>
      </p:sp>
      <p:sp>
        <p:nvSpPr>
          <p:cNvPr id="5" name="Text 3"/>
          <p:cNvSpPr txBox="1"/>
          <p:nvPr/>
        </p:nvSpPr>
        <p:spPr>
          <a:xfrm>
            <a:off x="731520" y="16459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6" name="Text 4"/>
          <p:cNvSpPr txBox="1"/>
          <p:nvPr/>
        </p:nvSpPr>
        <p:spPr>
          <a:xfrm>
            <a:off x="1417320" y="16459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Two readings, one series</a:t>
            </a:r>
            <a:endParaRPr lang="en-US" sz="1800" dirty="0"/>
          </a:p>
        </p:txBody>
      </p:sp>
      <p:sp>
        <p:nvSpPr>
          <p:cNvPr id="7" name="Text 5"/>
          <p:cNvSpPr txBox="1"/>
          <p:nvPr/>
        </p:nvSpPr>
        <p:spPr>
          <a:xfrm>
            <a:off x="731520" y="23774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Existing scripts are strictly first century. Adding church ages without labels creates contradictions.</a:t>
            </a:r>
            <a:endParaRPr lang="en-US" sz="1400" dirty="0"/>
          </a:p>
        </p:txBody>
      </p:sp>
      <p:sp>
        <p:nvSpPr>
          <p:cNvPr id="8" name="Shape 6"/>
          <p:cNvSpPr/>
          <p:nvPr/>
        </p:nvSpPr>
        <p:spPr>
          <a:xfrm>
            <a:off x="4279392"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9" name="Shape 7"/>
          <p:cNvSpPr/>
          <p:nvPr/>
        </p:nvSpPr>
        <p:spPr>
          <a:xfrm>
            <a:off x="4553712" y="1645920"/>
            <a:ext cx="548640" cy="548640"/>
          </a:xfrm>
          <a:prstGeom prst="ellipse">
            <a:avLst/>
          </a:prstGeom>
          <a:solidFill>
            <a:schemeClr val="accent1"/>
          </a:solidFill>
          <a:ln/>
        </p:spPr>
      </p:sp>
      <p:sp>
        <p:nvSpPr>
          <p:cNvPr id="10" name="Text 8"/>
          <p:cNvSpPr txBox="1"/>
          <p:nvPr/>
        </p:nvSpPr>
        <p:spPr>
          <a:xfrm>
            <a:off x="4553712" y="16459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11" name="Text 9"/>
          <p:cNvSpPr txBox="1"/>
          <p:nvPr/>
        </p:nvSpPr>
        <p:spPr>
          <a:xfrm>
            <a:off x="5239512" y="16459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Era dates vary</a:t>
            </a:r>
            <a:endParaRPr lang="en-US" sz="1800" dirty="0"/>
          </a:p>
        </p:txBody>
      </p:sp>
      <p:sp>
        <p:nvSpPr>
          <p:cNvPr id="12" name="Text 10"/>
          <p:cNvSpPr txBox="1"/>
          <p:nvPr/>
        </p:nvSpPr>
        <p:spPr>
          <a:xfrm>
            <a:off x="4553712" y="23774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Adventist expositors draw the boundaries differently. Cite whose dates you use; they are not Scripture.</a:t>
            </a:r>
            <a:endParaRPr lang="en-US" sz="1400" dirty="0"/>
          </a:p>
        </p:txBody>
      </p:sp>
      <p:sp>
        <p:nvSpPr>
          <p:cNvPr id="13" name="Shape 11"/>
          <p:cNvSpPr/>
          <p:nvPr/>
        </p:nvSpPr>
        <p:spPr>
          <a:xfrm>
            <a:off x="8101584" y="13716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14" name="Shape 12"/>
          <p:cNvSpPr/>
          <p:nvPr/>
        </p:nvSpPr>
        <p:spPr>
          <a:xfrm>
            <a:off x="8375904" y="1645920"/>
            <a:ext cx="548640" cy="548640"/>
          </a:xfrm>
          <a:prstGeom prst="ellipse">
            <a:avLst/>
          </a:prstGeom>
          <a:solidFill>
            <a:schemeClr val="accent1"/>
          </a:solidFill>
          <a:ln/>
        </p:spPr>
      </p:sp>
      <p:sp>
        <p:nvSpPr>
          <p:cNvPr id="15" name="Text 13"/>
          <p:cNvSpPr txBox="1"/>
          <p:nvPr/>
        </p:nvSpPr>
        <p:spPr>
          <a:xfrm>
            <a:off x="8375904" y="16459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16" name="Text 14"/>
          <p:cNvSpPr txBox="1"/>
          <p:nvPr/>
        </p:nvSpPr>
        <p:spPr>
          <a:xfrm>
            <a:off x="9061704" y="16459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Forced typology</a:t>
            </a:r>
            <a:endParaRPr lang="en-US" sz="1800" dirty="0"/>
          </a:p>
        </p:txBody>
      </p:sp>
      <p:sp>
        <p:nvSpPr>
          <p:cNvPr id="17" name="Text 15"/>
          <p:cNvSpPr txBox="1"/>
          <p:nvPr/>
        </p:nvSpPr>
        <p:spPr>
          <a:xfrm>
            <a:off x="8375904" y="23774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Lead with types the letters name (Balaam, Jezebel, key of David). Label inferred types as illustration.</a:t>
            </a:r>
            <a:endParaRPr lang="en-US" sz="1400" dirty="0"/>
          </a:p>
        </p:txBody>
      </p:sp>
      <p:sp>
        <p:nvSpPr>
          <p:cNvPr id="18" name="Shape 16"/>
          <p:cNvSpPr/>
          <p:nvPr/>
        </p:nvSpPr>
        <p:spPr>
          <a:xfrm>
            <a:off x="457200"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19" name="Shape 17"/>
          <p:cNvSpPr/>
          <p:nvPr/>
        </p:nvSpPr>
        <p:spPr>
          <a:xfrm>
            <a:off x="731520" y="4160520"/>
            <a:ext cx="548640" cy="548640"/>
          </a:xfrm>
          <a:prstGeom prst="ellipse">
            <a:avLst/>
          </a:prstGeom>
          <a:solidFill>
            <a:schemeClr val="accent1"/>
          </a:solidFill>
          <a:ln/>
        </p:spPr>
      </p:sp>
      <p:sp>
        <p:nvSpPr>
          <p:cNvPr id="20" name="Text 18"/>
          <p:cNvSpPr txBox="1"/>
          <p:nvPr/>
        </p:nvSpPr>
        <p:spPr>
          <a:xfrm>
            <a:off x="731520" y="41605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21" name="Text 19"/>
          <p:cNvSpPr txBox="1"/>
          <p:nvPr/>
        </p:nvSpPr>
        <p:spPr>
          <a:xfrm>
            <a:off x="1417320" y="41605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Folk etymology</a:t>
            </a:r>
            <a:endParaRPr lang="en-US" sz="1800" dirty="0"/>
          </a:p>
        </p:txBody>
      </p:sp>
      <p:sp>
        <p:nvSpPr>
          <p:cNvPr id="22" name="Text 20"/>
          <p:cNvSpPr txBox="1"/>
          <p:nvPr/>
        </p:nvSpPr>
        <p:spPr>
          <a:xfrm>
            <a:off x="731520" y="48920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Name meanings like "Laodicea = people judged" are popular but weak. Don't build arguments on them.</a:t>
            </a:r>
            <a:endParaRPr lang="en-US" sz="1400" dirty="0"/>
          </a:p>
        </p:txBody>
      </p:sp>
      <p:sp>
        <p:nvSpPr>
          <p:cNvPr id="23" name="Shape 21"/>
          <p:cNvSpPr/>
          <p:nvPr/>
        </p:nvSpPr>
        <p:spPr>
          <a:xfrm>
            <a:off x="4279392"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24" name="Shape 22"/>
          <p:cNvSpPr/>
          <p:nvPr/>
        </p:nvSpPr>
        <p:spPr>
          <a:xfrm>
            <a:off x="4553712" y="4160520"/>
            <a:ext cx="548640" cy="548640"/>
          </a:xfrm>
          <a:prstGeom prst="ellipse">
            <a:avLst/>
          </a:prstGeom>
          <a:solidFill>
            <a:schemeClr val="accent1"/>
          </a:solidFill>
          <a:ln/>
        </p:spPr>
      </p:sp>
      <p:sp>
        <p:nvSpPr>
          <p:cNvPr id="25" name="Text 23"/>
          <p:cNvSpPr txBox="1"/>
          <p:nvPr/>
        </p:nvSpPr>
        <p:spPr>
          <a:xfrm>
            <a:off x="4553712" y="41605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26" name="Text 24"/>
          <p:cNvSpPr txBox="1"/>
          <p:nvPr/>
        </p:nvSpPr>
        <p:spPr>
          <a:xfrm>
            <a:off x="5239512" y="41605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Audience fit</a:t>
            </a:r>
            <a:endParaRPr lang="en-US" sz="1800" dirty="0"/>
          </a:p>
        </p:txBody>
      </p:sp>
      <p:sp>
        <p:nvSpPr>
          <p:cNvPr id="27" name="Text 25"/>
          <p:cNvSpPr txBox="1"/>
          <p:nvPr/>
        </p:nvSpPr>
        <p:spPr>
          <a:xfrm>
            <a:off x="4553712" y="48920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investigative judgment is a distinctly Adventist teaching. Say so up front for a public YouTube audience.</a:t>
            </a:r>
            <a:endParaRPr lang="en-US" sz="1400" dirty="0"/>
          </a:p>
        </p:txBody>
      </p:sp>
      <p:sp>
        <p:nvSpPr>
          <p:cNvPr id="28" name="Shape 26"/>
          <p:cNvSpPr/>
          <p:nvPr/>
        </p:nvSpPr>
        <p:spPr>
          <a:xfrm>
            <a:off x="8101584" y="3886200"/>
            <a:ext cx="3611880" cy="2240280"/>
          </a:xfrm>
          <a:prstGeom prst="roundRect">
            <a:avLst>
              <a:gd name="adj" fmla="val 4082"/>
            </a:avLst>
          </a:prstGeom>
          <a:solidFill>
            <a:schemeClr val="bg2"/>
          </a:solidFill>
          <a:ln/>
          <a:effectLst>
            <a:outerShdw sx="100000" sy="100000" kx="0" ky="0" algn="bl" rotWithShape="0" blurRad="76200" dist="25400" dir="5400000">
              <a:srgbClr val="1B2333">
                <a:alpha val="15000"/>
              </a:srgbClr>
            </a:outerShdw>
          </a:effectLst>
        </p:spPr>
      </p:sp>
      <p:sp>
        <p:nvSpPr>
          <p:cNvPr id="29" name="Shape 27"/>
          <p:cNvSpPr/>
          <p:nvPr/>
        </p:nvSpPr>
        <p:spPr>
          <a:xfrm>
            <a:off x="8375904" y="4160520"/>
            <a:ext cx="548640" cy="548640"/>
          </a:xfrm>
          <a:prstGeom prst="ellipse">
            <a:avLst/>
          </a:prstGeom>
          <a:solidFill>
            <a:schemeClr val="accent1"/>
          </a:solidFill>
          <a:ln/>
        </p:spPr>
      </p:sp>
      <p:sp>
        <p:nvSpPr>
          <p:cNvPr id="30" name="Text 28"/>
          <p:cNvSpPr txBox="1"/>
          <p:nvPr/>
        </p:nvSpPr>
        <p:spPr>
          <a:xfrm>
            <a:off x="8375904" y="4160520"/>
            <a:ext cx="548640" cy="54864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a:t>
            </a:r>
            <a:endParaRPr lang="en-US" sz="2200" dirty="0"/>
          </a:p>
        </p:txBody>
      </p:sp>
      <p:sp>
        <p:nvSpPr>
          <p:cNvPr id="31" name="Text 29"/>
          <p:cNvSpPr txBox="1"/>
          <p:nvPr/>
        </p:nvSpPr>
        <p:spPr>
          <a:xfrm>
            <a:off x="9061704" y="4160520"/>
            <a:ext cx="242316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Unverified history</a:t>
            </a:r>
            <a:endParaRPr lang="en-US" sz="1800" dirty="0"/>
          </a:p>
        </p:txBody>
      </p:sp>
      <p:sp>
        <p:nvSpPr>
          <p:cNvPr id="32" name="Text 30"/>
          <p:cNvSpPr txBox="1"/>
          <p:nvPr/>
        </p:nvSpPr>
        <p:spPr>
          <a:xfrm>
            <a:off x="8375904" y="4892040"/>
            <a:ext cx="3108960" cy="109728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Dates flagged VERIFY in the speaker notes need a citable source before they go on screen.</a:t>
            </a:r>
            <a:endParaRPr lang="en-US" sz="1400" dirty="0"/>
          </a:p>
        </p:txBody>
      </p:sp>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Image list for the John character</a:t>
            </a:r>
            <a:endParaRPr lang="en-US" sz="3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914400"/>
                <a:gridCol w="10360152"/>
              </a:tblGrid>
              <a:tr h="32918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Image</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J-01</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on the island of Patmos, seated on rocks above the sea, writing on a scroll. Portrait, about 4:5.</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J-02</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older and strong, holding a scroll and looking up as he hears the voice behind him (Rev 1:10). Portrait.</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J-03</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reading Old Testament scrolls by lamplight.</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receiving the vision, bright light, kneeling or shielding his eyes (Rev 1:17).</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J-05</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gazing toward the horizon over the sea at dawn.</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J-06</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turning to see seven golden lampstands (Rev 1:12). Show light and lampstands; avoid depicting Jesus's face.</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C-01</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Ephesus, with ancient Ephesus behind him (Revelation 2:1–7).</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C-02</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Smyrna, with ancient Smyrna behind him (Revelation 2:8–11).</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C-03</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Pergamum, with ancient Pergamum behind him (Revelation 2:12–17).</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Thyatira, with ancient Thyatira behind him (Revelation 2:18–29).</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C-05</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Sardis, with ancient Sardis behind him (Revelation 3:1–6).</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C-06</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Philadelphia, with ancient Philadelphia behind him (Revelation 3:7–13).</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C-07</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writing the letter to Laodicea, with ancient Laodicea behind him (Revelation 3:14–22).</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29184">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J-07</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John standing on the Patmos shore at sunset, scroll rolled in hand, looking out to sea.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778240" cy="73152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HeyGen video file names</a:t>
            </a:r>
            <a:endParaRPr lang="en-US" sz="3400" dirty="0"/>
          </a:p>
        </p:txBody>
      </p:sp>
      <p:sp>
        <p:nvSpPr>
          <p:cNvPr id="3" name="Text 1"/>
          <p:cNvSpPr txBox="1"/>
          <p:nvPr/>
        </p:nvSpPr>
        <p:spPr>
          <a:xfrm>
            <a:off x="457200" y="1097280"/>
            <a:ext cx="11274552" cy="54864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Save each video in a folder named "videos" next to this PowerPoint, using these exact file names. The buttons on each church slide will open them, with no internet needed.</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737360"/>
          <a:ext cx="11274552" cy="914400"/>
        </p:xfrm>
        <a:graphic>
          <a:graphicData uri="http://schemas.openxmlformats.org/drawingml/2006/table">
            <a:tbl>
              <a:tblPr/>
              <a:tblGrid>
                <a:gridCol w="5029200"/>
                <a:gridCol w="6245352"/>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File name</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Reading</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23395B"/>
                    </a:solidFill>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C01_Ephesus_Past.mp4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Ephesus</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C01_Ephesus_Letter.mp4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Ephesus</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C02_Smyrna_Past.mp4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Smyrna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C02_Smyrna_Letter.mp4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Smyrna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C03_Pergamum_Past.mp4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Pergamum</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C03_Pergamum_Letter.mp4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Pergamum</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C04_Thyatira_Past.mp4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Thyatira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C04_Thyatira_Letter.mp4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Thyatira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C05_Sardis_Past.mp4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Sardis</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C05_Sardis_Letter.mp4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Sardis</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C06_Philadelphia_Past.mp4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Philadelphia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C06_Philadelphia_Letter.mp4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Philadelphia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C07_Laodicea_Past.mp4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Past reading, Laodicea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r h="301752">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C07_Laodicea_Letter.mp4</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c>
                  <a:txBody>
                    <a:bodyPr/>
                    <a:lstStyle/>
                    <a:p>
                      <a:pPr indent="0" marL="0">
                        <a:buNone/>
                      </a:pPr>
                      <a:r>
                        <a:rPr lang="en-US" sz="1100" dirty="0">
                          <a:solidFill>
                            <a:srgbClr val="1B2333"/>
                          </a:solidFill>
                          <a:latin typeface="Calibri" pitchFamily="34" charset="0"/>
                          <a:ea typeface="Calibri" pitchFamily="34" charset="-122"/>
                          <a:cs typeface="Calibri" pitchFamily="34" charset="-120"/>
                        </a:rPr>
                        <a:t>Letter reading, Laodicea</a:t>
                      </a:r>
                      <a:endParaRPr lang="en-US" sz="1100" dirty="0">
                        <a:latin typeface="Calibri" charset="0"/>
                        <a:ea typeface="Calibri" charset="0"/>
                        <a:cs typeface="Calibri" charset="0"/>
                      </a:endParaRPr>
                    </a:p>
                  </a:txBody>
                  <a:tcPr marL="91440" marR="91440" marT="45720" marB="45720">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4300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Seven Churches">
  <a:themeElements>
    <a:clrScheme name="Seven Churches">
      <a:dk1>
        <a:srgbClr val="1B2333"/>
      </a:dk1>
      <a:lt1>
        <a:srgbClr val="FFFFFF"/>
      </a:lt1>
      <a:dk2>
        <a:srgbClr val="23395B"/>
      </a:dk2>
      <a:lt2>
        <a:srgbClr val="EEF2F6"/>
      </a:lt2>
      <a:accent1>
        <a:srgbClr val="B5543A"/>
      </a:accent1>
      <a:accent2>
        <a:srgbClr val="2B7A78"/>
      </a:accent2>
      <a:accent3>
        <a:srgbClr val="C9A227"/>
      </a:accent3>
      <a:accent4>
        <a:srgbClr val="6B7A8F"/>
      </a:accent4>
      <a:accent5>
        <a:srgbClr val="8C3B2E"/>
      </a:accent5>
      <a:accent6>
        <a:srgbClr val="3E5C76"/>
      </a:accent6>
      <a:hlink>
        <a:srgbClr val="2B7A78"/>
      </a:hlink>
      <a:folHlink>
        <a:srgbClr val="6B7A8F"/>
      </a:folHlink>
    </a:clrScheme>
    <a:fontScheme name="Seven Church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Seven Churches of Revelation: Then to Now</dc:title>
  <dc:subject>PptxGenJS Presentation</dc:subject>
  <dc:creator>Kenny Smith</dc:creator>
  <cp:lastModifiedBy>Kenny Smith</cp:lastModifiedBy>
  <cp:revision>1</cp:revision>
  <dcterms:created xsi:type="dcterms:W3CDTF">2026-10-24T00:53:07Z</dcterms:created>
  <dcterms:modified xsi:type="dcterms:W3CDTF">2026-10-24T00:53:07Z</dcterms:modified>
</cp:coreProperties>
</file>